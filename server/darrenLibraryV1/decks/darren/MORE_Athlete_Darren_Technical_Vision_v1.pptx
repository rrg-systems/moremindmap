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b9635c5c814b24" /><Relationship Type="http://schemas.openxmlformats.org/officeDocument/2006/relationships/extended-properties" Target="/docProps/app.xml" Id="Rd7bd0265eda84200" /><Relationship Type="http://schemas.openxmlformats.org/officeDocument/2006/relationships/officeDocument" Target="/ppt/presentation.xml" Id="R823611fb58b04168" /></Relationships>
</file>

<file path=ppt/presentation.xml><?xml version="1.0" encoding="utf-8"?>
<p:presentation xmlns:p="http://schemas.openxmlformats.org/presentationml/2006/main">
  <p:sldMasterIdLst>
    <p:sldMasterId xmlns:r="http://schemas.openxmlformats.org/officeDocument/2006/relationships" id="2147483648" r:id="R2d68144c7b0642f5"/>
  </p:sldMasterIdLst>
  <p:notesMasterIdLst>
    <p:notesMasterId xmlns:r="http://schemas.openxmlformats.org/officeDocument/2006/relationships" r:id="R25c95c0efc044f6d"/>
  </p:notesMasterIdLst>
  <p:sldIdLst>
    <p:sldId xmlns:r="http://schemas.openxmlformats.org/officeDocument/2006/relationships" id="256" r:id="R11fa136661794072"/>
    <p:sldId xmlns:r="http://schemas.openxmlformats.org/officeDocument/2006/relationships" id="257" r:id="Ra1491a19176445aa"/>
    <p:sldId xmlns:r="http://schemas.openxmlformats.org/officeDocument/2006/relationships" id="258" r:id="R0f242e8d06444fee"/>
    <p:sldId xmlns:r="http://schemas.openxmlformats.org/officeDocument/2006/relationships" id="259" r:id="Rc068a5fc39064b81"/>
    <p:sldId xmlns:r="http://schemas.openxmlformats.org/officeDocument/2006/relationships" id="260" r:id="Re7613a9110084e23"/>
    <p:sldId xmlns:r="http://schemas.openxmlformats.org/officeDocument/2006/relationships" id="261" r:id="R5414fa6edac843f0"/>
    <p:sldId xmlns:r="http://schemas.openxmlformats.org/officeDocument/2006/relationships" id="262" r:id="Ra649bd981f454b89"/>
    <p:sldId xmlns:r="http://schemas.openxmlformats.org/officeDocument/2006/relationships" id="263" r:id="Rfb56a68e72a4400a"/>
    <p:sldId xmlns:r="http://schemas.openxmlformats.org/officeDocument/2006/relationships" id="264" r:id="R6700b672a31f4898"/>
    <p:sldId xmlns:r="http://schemas.openxmlformats.org/officeDocument/2006/relationships" id="265" r:id="Rdbe477c705aa4d65"/>
    <p:sldId xmlns:r="http://schemas.openxmlformats.org/officeDocument/2006/relationships" id="266" r:id="R283cca73a6a84904"/>
    <p:sldId xmlns:r="http://schemas.openxmlformats.org/officeDocument/2006/relationships" id="267" r:id="Rd3e881be2bff4fbd"/>
    <p:sldId xmlns:r="http://schemas.openxmlformats.org/officeDocument/2006/relationships" id="268" r:id="R5e80d31cf82c460f"/>
    <p:sldId xmlns:r="http://schemas.openxmlformats.org/officeDocument/2006/relationships" id="269" r:id="R0d63e1e6d3bb4ced"/>
    <p:sldId xmlns:r="http://schemas.openxmlformats.org/officeDocument/2006/relationships" id="270" r:id="Rad578efcd75f4038"/>
    <p:sldId xmlns:r="http://schemas.openxmlformats.org/officeDocument/2006/relationships" id="271" r:id="Ra6e1195cc6504244"/>
    <p:sldId xmlns:r="http://schemas.openxmlformats.org/officeDocument/2006/relationships" id="272" r:id="Rbf710b68ee7f486b"/>
    <p:sldId xmlns:r="http://schemas.openxmlformats.org/officeDocument/2006/relationships" id="273" r:id="R16b04887e6c542c7"/>
    <p:sldId xmlns:r="http://schemas.openxmlformats.org/officeDocument/2006/relationships" id="274" r:id="Rd48e68d0379b4b93"/>
    <p:sldId xmlns:r="http://schemas.openxmlformats.org/officeDocument/2006/relationships" id="275" r:id="R77026123f1434819"/>
    <p:sldId xmlns:r="http://schemas.openxmlformats.org/officeDocument/2006/relationships" id="276" r:id="R7d6e26d795ce4709"/>
    <p:sldId xmlns:r="http://schemas.openxmlformats.org/officeDocument/2006/relationships" id="277" r:id="R9bd8db3a1d434028"/>
    <p:sldId xmlns:r="http://schemas.openxmlformats.org/officeDocument/2006/relationships" id="278" r:id="Rae4dcb132931460f"/>
    <p:sldId xmlns:r="http://schemas.openxmlformats.org/officeDocument/2006/relationships" id="279" r:id="R4914f192f55941dd"/>
    <p:sldId xmlns:r="http://schemas.openxmlformats.org/officeDocument/2006/relationships" id="280" r:id="Rbc43f3415a74461f"/>
    <p:sldId xmlns:r="http://schemas.openxmlformats.org/officeDocument/2006/relationships" id="281" r:id="R3f1a320570434b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5beaadd0d14551" /><Relationship Type="http://schemas.openxmlformats.org/officeDocument/2006/relationships/slideMaster" Target="/ppt/slideMasters/slideMaster1.xml" Id="R2d68144c7b0642f5" /><Relationship Type="http://schemas.openxmlformats.org/officeDocument/2006/relationships/notesMaster" Target="/ppt/notesMasters/notesMaster1.xml" Id="R25c95c0efc044f6d" /><Relationship Type="http://schemas.openxmlformats.org/officeDocument/2006/relationships/presProps" Target="/ppt/presProps.xml" Id="Rea0cc71b8de8415d" /><Relationship Type="http://schemas.openxmlformats.org/officeDocument/2006/relationships/tableStyles" Target="/ppt/tableStyles.xml" Id="R0a8d0552594f46cb" /><Relationship Type="http://schemas.openxmlformats.org/officeDocument/2006/relationships/slide" Target="/ppt/slides/slide1.xml" Id="R11fa136661794072" /><Relationship Type="http://schemas.openxmlformats.org/officeDocument/2006/relationships/slide" Target="/ppt/slides/slide2.xml" Id="Ra1491a19176445aa" /><Relationship Type="http://schemas.openxmlformats.org/officeDocument/2006/relationships/slide" Target="/ppt/slides/slide3.xml" Id="R0f242e8d06444fee" /><Relationship Type="http://schemas.openxmlformats.org/officeDocument/2006/relationships/slide" Target="/ppt/slides/slide4.xml" Id="Rc068a5fc39064b81" /><Relationship Type="http://schemas.openxmlformats.org/officeDocument/2006/relationships/slide" Target="/ppt/slides/slide5.xml" Id="Re7613a9110084e23" /><Relationship Type="http://schemas.openxmlformats.org/officeDocument/2006/relationships/slide" Target="/ppt/slides/slide6.xml" Id="R5414fa6edac843f0" /><Relationship Type="http://schemas.openxmlformats.org/officeDocument/2006/relationships/slide" Target="/ppt/slides/slide7.xml" Id="Ra649bd981f454b89" /><Relationship Type="http://schemas.openxmlformats.org/officeDocument/2006/relationships/slide" Target="/ppt/slides/slide8.xml" Id="Rfb56a68e72a4400a" /><Relationship Type="http://schemas.openxmlformats.org/officeDocument/2006/relationships/slide" Target="/ppt/slides/slide9.xml" Id="R6700b672a31f4898" /><Relationship Type="http://schemas.openxmlformats.org/officeDocument/2006/relationships/slide" Target="/ppt/slides/slide10.xml" Id="Rdbe477c705aa4d65" /><Relationship Type="http://schemas.openxmlformats.org/officeDocument/2006/relationships/slide" Target="/ppt/slides/slide11.xml" Id="R283cca73a6a84904" /><Relationship Type="http://schemas.openxmlformats.org/officeDocument/2006/relationships/slide" Target="/ppt/slides/slide12.xml" Id="Rd3e881be2bff4fbd" /><Relationship Type="http://schemas.openxmlformats.org/officeDocument/2006/relationships/slide" Target="/ppt/slides/slide13.xml" Id="R5e80d31cf82c460f" /><Relationship Type="http://schemas.openxmlformats.org/officeDocument/2006/relationships/slide" Target="/ppt/slides/slide14.xml" Id="R0d63e1e6d3bb4ced" /><Relationship Type="http://schemas.openxmlformats.org/officeDocument/2006/relationships/slide" Target="/ppt/slides/slide15.xml" Id="Rad578efcd75f4038" /><Relationship Type="http://schemas.openxmlformats.org/officeDocument/2006/relationships/slide" Target="/ppt/slides/slide16.xml" Id="Ra6e1195cc6504244" /><Relationship Type="http://schemas.openxmlformats.org/officeDocument/2006/relationships/slide" Target="/ppt/slides/slide17.xml" Id="Rbf710b68ee7f486b" /><Relationship Type="http://schemas.openxmlformats.org/officeDocument/2006/relationships/slide" Target="/ppt/slides/slide18.xml" Id="R16b04887e6c542c7" /><Relationship Type="http://schemas.openxmlformats.org/officeDocument/2006/relationships/slide" Target="/ppt/slides/slide19.xml" Id="Rd48e68d0379b4b93" /><Relationship Type="http://schemas.openxmlformats.org/officeDocument/2006/relationships/slide" Target="/ppt/slides/slide20.xml" Id="R77026123f1434819" /><Relationship Type="http://schemas.openxmlformats.org/officeDocument/2006/relationships/slide" Target="/ppt/slides/slide21.xml" Id="R7d6e26d795ce4709" /><Relationship Type="http://schemas.openxmlformats.org/officeDocument/2006/relationships/slide" Target="/ppt/slides/slide22.xml" Id="R9bd8db3a1d434028" /><Relationship Type="http://schemas.openxmlformats.org/officeDocument/2006/relationships/slide" Target="/ppt/slides/slide23.xml" Id="Rae4dcb132931460f" /><Relationship Type="http://schemas.openxmlformats.org/officeDocument/2006/relationships/slide" Target="/ppt/slides/slide24.xml" Id="R4914f192f55941dd" /><Relationship Type="http://schemas.openxmlformats.org/officeDocument/2006/relationships/slide" Target="/ppt/slides/slide25.xml" Id="Rbc43f3415a74461f" /><Relationship Type="http://schemas.openxmlformats.org/officeDocument/2006/relationships/slide" Target="/ppt/slides/slide26.xml" Id="R3f1a320570434b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746080677a45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3ede7a94f04b8d" /><Relationship Type="http://schemas.openxmlformats.org/officeDocument/2006/relationships/notesMaster" Target="/ppt/notesMasters/notesMaster1.xml" Id="R432671fbd8384e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a74a74bcd6405a" /><Relationship Type="http://schemas.openxmlformats.org/officeDocument/2006/relationships/notesMaster" Target="/ppt/notesMasters/notesMaster1.xml" Id="R83ce38f613f543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d505694fab493e" /><Relationship Type="http://schemas.openxmlformats.org/officeDocument/2006/relationships/notesMaster" Target="/ppt/notesMasters/notesMaster1.xml" Id="R7c3605e371f246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ec9aa120e84d66" /><Relationship Type="http://schemas.openxmlformats.org/officeDocument/2006/relationships/notesMaster" Target="/ppt/notesMasters/notesMaster1.xml" Id="R9f4660e84f1444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0d7c85e1e046e9" /><Relationship Type="http://schemas.openxmlformats.org/officeDocument/2006/relationships/notesMaster" Target="/ppt/notesMasters/notesMaster1.xml" Id="Re65a894bb70748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f9ab1c017e4083" /><Relationship Type="http://schemas.openxmlformats.org/officeDocument/2006/relationships/notesMaster" Target="/ppt/notesMasters/notesMaster1.xml" Id="Raa8092d8e63640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84e2a34dae4664" /><Relationship Type="http://schemas.openxmlformats.org/officeDocument/2006/relationships/notesMaster" Target="/ppt/notesMasters/notesMaster1.xml" Id="R00694ff0d14643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dcf7ad2b934e11" /><Relationship Type="http://schemas.openxmlformats.org/officeDocument/2006/relationships/notesMaster" Target="/ppt/notesMasters/notesMaster1.xml" Id="Rf06a289a26604a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51f39e554a41a4" /><Relationship Type="http://schemas.openxmlformats.org/officeDocument/2006/relationships/notesMaster" Target="/ppt/notesMasters/notesMaster1.xml" Id="R3d4558be29554a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290c5aefd546e0" /><Relationship Type="http://schemas.openxmlformats.org/officeDocument/2006/relationships/notesMaster" Target="/ppt/notesMasters/notesMaster1.xml" Id="Rebb5b023566e47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83047cd41b46cc" /><Relationship Type="http://schemas.openxmlformats.org/officeDocument/2006/relationships/notesMaster" Target="/ppt/notesMasters/notesMaster1.xml" Id="R5caeb4ff751446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80a265ee744cf3" /><Relationship Type="http://schemas.openxmlformats.org/officeDocument/2006/relationships/notesMaster" Target="/ppt/notesMasters/notesMaster1.xml" Id="Rf1452d2a354a45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6a974c64554ce3" /><Relationship Type="http://schemas.openxmlformats.org/officeDocument/2006/relationships/notesMaster" Target="/ppt/notesMasters/notesMaster1.xml" Id="Rc7ba9e0c630f43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818f6c5bff47f0" /><Relationship Type="http://schemas.openxmlformats.org/officeDocument/2006/relationships/notesMaster" Target="/ppt/notesMasters/notesMaster1.xml" Id="R4268f71f129b4f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29590793cb4af5" /><Relationship Type="http://schemas.openxmlformats.org/officeDocument/2006/relationships/notesMaster" Target="/ppt/notesMasters/notesMaster1.xml" Id="Raee3d79caf0246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1a87473c6b449e" /><Relationship Type="http://schemas.openxmlformats.org/officeDocument/2006/relationships/notesMaster" Target="/ppt/notesMasters/notesMaster1.xml" Id="Ra3b9c439d68e47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c7d4d02a4c400d" /><Relationship Type="http://schemas.openxmlformats.org/officeDocument/2006/relationships/notesMaster" Target="/ppt/notesMasters/notesMaster1.xml" Id="Reb837eadf8ac45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b3e0b3dbbf4232" /><Relationship Type="http://schemas.openxmlformats.org/officeDocument/2006/relationships/notesMaster" Target="/ppt/notesMasters/notesMaster1.xml" Id="Re1aab91fec0943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874ae505894914" /><Relationship Type="http://schemas.openxmlformats.org/officeDocument/2006/relationships/notesMaster" Target="/ppt/notesMasters/notesMaster1.xml" Id="R4d345213e7a640e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056632abd04724" /><Relationship Type="http://schemas.openxmlformats.org/officeDocument/2006/relationships/notesMaster" Target="/ppt/notesMasters/notesMaster1.xml" Id="R72f573105b0e42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74cd04b4074ec0" /><Relationship Type="http://schemas.openxmlformats.org/officeDocument/2006/relationships/notesMaster" Target="/ppt/notesMasters/notesMaster1.xml" Id="R65e4ccc7ff484fa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bdb8d73b194bdf" /><Relationship Type="http://schemas.openxmlformats.org/officeDocument/2006/relationships/notesMaster" Target="/ppt/notesMasters/notesMaster1.xml" Id="R4f27337d58d644a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f10eb476544332" /><Relationship Type="http://schemas.openxmlformats.org/officeDocument/2006/relationships/notesMaster" Target="/ppt/notesMasters/notesMaster1.xml" Id="R15f41200173f42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4db8accc379401a" /><Relationship Type="http://schemas.openxmlformats.org/officeDocument/2006/relationships/notesMaster" Target="/ppt/notesMasters/notesMaster1.xml" Id="Ra5a97c6f50074b7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0b6996f62b4066" /><Relationship Type="http://schemas.openxmlformats.org/officeDocument/2006/relationships/notesMaster" Target="/ppt/notesMasters/notesMaster1.xml" Id="Rf71c50d6958f44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62d936e70340cc" /><Relationship Type="http://schemas.openxmlformats.org/officeDocument/2006/relationships/notesMaster" Target="/ppt/notesMasters/notesMaster1.xml" Id="R4b3d11f2a21749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proposed strategic destination for Darren, suitable for discussion with Lisa. This deck describes staged product and business ambitions, not a claim that the enterprise network exists. Visual source: MORE_Youth_Sports_v04_Enterprise_Rollout.pptx. Photos are fictional illustrations from that deck.</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organizing object is a person’s development over time. Different legitimate roles receive different views. An academy business should create value before any wider recruiting network exists.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Naming and sequence follow the user’s six-stage detail. This is a sequence of proof gates, not a calendar or approved implementation scope. Later stages must not rescue the economics of earlier stages.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Epic describes its records as chronicling healthcare over time: https://www.epic.com/about/ (checked September 16, 2026). Movement’s January 11, 2017 announcement describes a late-2016 Total Expert pilot, planned company-wide rollout, and origination-data integration: https://movement.com/blog/2017/01/movement-mortgage-partners-total-expert-launch-proprietary-marketing-sales-customer-engagement-platform (checked September 16, 2026). This is an architectural and commercial analogy, not their literal six-stage history or a forecast of MORE’s scale. “Own the state, rent the intelligence” is a modern interpretation, not Epic’s original 1979 slogan.</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BOS means Behavioral Operating System and supports whole-person understanding. APA is the Youth Athlete Performance Assessment, covering sport, training and mindset. Five Futures are conditional possibilities, not predictions. The coach’s actual methodology requires participation and agreed usage rights. The loop is the seed of every enterprise stage.</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plan calls the potential organization Beyond Today Sports Institute. The user and Lisa reference deck use Beyond Sports, which this deck follows as a working name. No partnership or pilot commitment is assumed. An introduction does not establish participation or usage rights.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evidence, not achieved results. The archived plan references an initial 10–20 real-user questionnaire cohort. That is an early comprehension and usefulness exercise, not proof of ongoing coaching benefit. Measures and decision thresholds should be agreed with the actual partner. Preserve failures and drop-off as well as positive feedback.</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suggests concentrated expansion into a reachable sport, age band or program type. Two to four is a proposed learning group, not a forecast. Test whether the implementation recipe travels beyond Lisa’s personal involvement. Track support burden, AI cost, adoption and renewal to understand margin.</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Configuration must preserve the shared architecture while allowing approved local methodology. Capture the methodology version used for a recommendation. A separate engineering branch or rewritten coaching engine for every customer would weaken the repeatability claim.</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here means development operating system. It does not imply replacement of scheduling, billing or every academy tool. Product expansion follows demonstrated needs. Enterprise requirements include staff provisioning and removal, appropriate parent communication, exports, implementation support and integrations.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institutional questions grounded in the stored plan. A program view must not reconstruct private reflection or become a dashboard of speculative psychological scores. Disagreement stays visible until reconciled.</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means the maintained record of what is currently true or agreed, together with its history. MORE controls its record system subject to legitimate rights and permissions. It does not own a child’s information for unrestricted monetization. Rented intelligence refers to replaceable AI capabilities. The phrase does not make migration, evaluation, cost or reliability automatic.</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technical interpretation of the governed architecture, expressed in plain language. Separate a draft suggestion from accepted shared reality. Keep timestamps, contributors, method/model version where relevant, and an audit history. Later observations can correct the record without silently erasing the prior decision.</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explicitly avoids rebuilding registration, tournament scheduling, payments, video hosting and wearable hardware. A performance academy may not hold authoritative school or competition records. Preserve the source system, source date, measurement units and freshness. Integration availability is future work, not an asserted capability.</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separates private development context, shared coaching records and recruitment packets. Consent is purpose-specific. Proposed controls should support review, correction, scoped sharing, expiration and revocation, with logs of access. A recipient may already have a lawful copy, so do not promise retroactive erasure of all exported material. Youth privacy and sport-specific compliance require review before the relevant launch. This slide states product boundaries, not a legal clearance.</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passport is an evolving, permissioned development record, not a personality-test export. The source plan calls this a product gate rather than an established revenue model. A new coach receives only the appropriate selected record. Athlete and guardian arrangements must match age, use and applicable requirements.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plan includes training and competition evidence, footage, role and level. Athlete statements, coach observations, verified measurements and AI interpretations should remain distinct. Corrections update current understanding while preserving a traceable history. “Verified” needs an identified verifier and a defined method, not a generic stamp.</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Recruitment and development after arrival are distinct use cases. Start with selected authorized links and structured comparisons. The plan does not assume colleges will pay for basic search. Validate the workflow and buyer before a broad marketplace build. College discovery can occur earlier without opening private athlete data.</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recruiting example. The plan emphasizes that BOS cannot produce sporting facts. “Senior” requires a defined graduation year and relevant education context. Current interest must come from the athlete, not an inference from personality or private conversations. The system must report missing evidence rather than fill it in.</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result structure, not real athlete records or search output. All three hypothetically meet position, graduation-year and current-interest criteria within the permitted pool. Only two have the specified comparable measurements. Do not rank private motivation, mental health or inferred coachability. The output supports human evaluation and authorized contact, not automatic selection.</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user’s sequence is high school athlete, recruited athlete, college athlete. A move does not automatically transfer the entire record. Permissions must be appropriate for the new relationship. Former staff access should end when authority ends. A receiving coach can question or correct earlier assumptions instead of inheriting a permanent label.</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long-term enterprise destination. Network scale is about useful legitimate connections, not unlimited cross-organization access. Enterprise readiness includes dependable integrations, implementation teams, procurement capability, measurement expertise and independent evaluation. Growth should expand something already useful.</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calls for privacy, provenance and causal humility. Maturation, competition, playing time, a different coach and selection effects may explain apparent progress. Any program-level learning needs an appropriate purpose, permissions and safeguards against exposing individuals. Build depth in a specific pathway before broad coverage across unrelated sports.</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commercial models, not approved pricing. The plan warns that existing recruiting products may offer basic search free, so a search fee cannot be assumed. Measure onboarding and support cost, partner payments, AI cost, seasonality and retention. Foundation sponsorship could widen access without families paying for premium recruitment visibility. No market-size estimate or revenue forecast is asserted.</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partner agreement, paid pilot or data use is authorized by this strategy deck. Darren’s role is to establish practical customer commitment and learn whether the same proposition works with other buyers. College coaches can evaluate fictional packet designs in parallel discovery without requiring a national search platform. The first program should validate the small development loop, not the entire future.</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synthesis of the stored Notion plan and user’s six-stage vision. MORE helps an athlete develop today, preserves useful evidence, and with appropriate permission lets that evidence serve the next chapter. The network-scale business is a conditional destination whose individual proof gates remain necessary. Images are fictional illustrations from the visual reference.</a:t>
            </a:r>
          </a:p>
          <a:p xmlns:a="http://schemas.openxmlformats.org/drawingml/2006/main">
            <a:r>
              <a:t/>
            </a:r>
          </a:p>
          <a:p xmlns:a="http://schemas.openxmlformats.org/drawingml/2006/main">
            <a:r>
              <a:t>Primary plan: https://app.notion.com/p/3ddc0cd728dc8153b0fae2482eaf6e56 (proposed, recorded September 15, 2026; retrieved September 16, 2026).</a:t>
            </a:r>
          </a:p>
          <a:p xmlns:a="http://schemas.openxmlformats.org/drawingml/2006/main">
            <a:r>
              <a:t>ChatGPT conversation Future SPOCK II, 6a9bb0e0-7418-83e8-a202-341c510a9e57, user six-stage detail, September 16, 2026.</a:t>
            </a:r>
          </a:p>
          <a:p xmlns:a="http://schemas.openxmlformats.org/drawingml/2006/main">
            <a:r>
              <a:t>The named stages come from the user’s later six-stage narrative. Buyer models and operational checks are proposed, not contracted or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79250178d94b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144b4eb9fe4eda" /><Relationship Type="http://schemas.openxmlformats.org/officeDocument/2006/relationships/slideLayout" Target="/ppt/slideLayouts/slideLayout1.xml" Id="Rd66ef56cfede48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6ef56cfede48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b4356f5b5a4629" /><Relationship Type="http://schemas.openxmlformats.org/officeDocument/2006/relationships/image" Target="/ppt/media/image.png" Id="R24b379cd78174b1b" /><Relationship Type="http://schemas.openxmlformats.org/officeDocument/2006/relationships/notesSlide" Target="/ppt/notesSlides/notesSlide1.xml" Id="Rae0b7942a4ff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90477c75aa4a3c" /><Relationship Type="http://schemas.openxmlformats.org/officeDocument/2006/relationships/image" Target="/ppt/media/image2.png" Id="R789f168744fa4907" /><Relationship Type="http://schemas.openxmlformats.org/officeDocument/2006/relationships/notesSlide" Target="/ppt/notesSlides/notesSlide2.xml" Id="Rca081c04bc0847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a3be5165e44c92" /><Relationship Type="http://schemas.openxmlformats.org/officeDocument/2006/relationships/notesSlide" Target="/ppt/notesSlides/notesSlide3.xml" Id="Rf4e55327675247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e5d81c1e6f4875" /><Relationship Type="http://schemas.openxmlformats.org/officeDocument/2006/relationships/notesSlide" Target="/ppt/notesSlides/notesSlide4.xml" Id="R8a211548e28042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caaf9caf094a39" /><Relationship Type="http://schemas.openxmlformats.org/officeDocument/2006/relationships/image" Target="/ppt/media/image3.png" Id="Re8941e163cc34f98" /><Relationship Type="http://schemas.openxmlformats.org/officeDocument/2006/relationships/notesSlide" Target="/ppt/notesSlides/notesSlide5.xml" Id="R926f71123a1549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1b8cdc2c0d45b3" /><Relationship Type="http://schemas.openxmlformats.org/officeDocument/2006/relationships/notesSlide" Target="/ppt/notesSlides/notesSlide6.xml" Id="Rf60f2a95e4ea4b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20c0f0f11d4e84" /><Relationship Type="http://schemas.openxmlformats.org/officeDocument/2006/relationships/notesSlide" Target="/ppt/notesSlides/notesSlide7.xml" Id="R4443484524f14f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f4c0e4c1a8446a" /><Relationship Type="http://schemas.openxmlformats.org/officeDocument/2006/relationships/notesSlide" Target="/ppt/notesSlides/notesSlide8.xml" Id="Rafb41caba9954e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5b64ca7b4e4833" /><Relationship Type="http://schemas.openxmlformats.org/officeDocument/2006/relationships/notesSlide" Target="/ppt/notesSlides/notesSlide9.xml" Id="Rec7f1af7480b4e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7c6d0fb5134232" /><Relationship Type="http://schemas.openxmlformats.org/officeDocument/2006/relationships/notesSlide" Target="/ppt/notesSlides/notesSlide10.xml" Id="Rfc5c851febd94f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c6edd7d29549dc" /><Relationship Type="http://schemas.openxmlformats.org/officeDocument/2006/relationships/notesSlide" Target="/ppt/notesSlides/notesSlide11.xml" Id="Rd26e8a92a57447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561e976ad7454e" /><Relationship Type="http://schemas.openxmlformats.org/officeDocument/2006/relationships/notesSlide" Target="/ppt/notesSlides/notesSlide12.xml" Id="R7318837264e248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3092a1cbab46f6" /><Relationship Type="http://schemas.openxmlformats.org/officeDocument/2006/relationships/notesSlide" Target="/ppt/notesSlides/notesSlide13.xml" Id="Raaac2c2df3584b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0bcc97fd8e496b" /><Relationship Type="http://schemas.openxmlformats.org/officeDocument/2006/relationships/notesSlide" Target="/ppt/notesSlides/notesSlide14.xml" Id="R57a26962efc142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baa86877b914049" /><Relationship Type="http://schemas.openxmlformats.org/officeDocument/2006/relationships/notesSlide" Target="/ppt/notesSlides/notesSlide15.xml" Id="R1f1b035353684a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1708e1ef03c47f9" /><Relationship Type="http://schemas.openxmlformats.org/officeDocument/2006/relationships/notesSlide" Target="/ppt/notesSlides/notesSlide16.xml" Id="R3ef97a9da7eb47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1c8726b44142a9" /><Relationship Type="http://schemas.openxmlformats.org/officeDocument/2006/relationships/notesSlide" Target="/ppt/notesSlides/notesSlide17.xml" Id="Rfeed0661def049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26cb55f1914d7b" /><Relationship Type="http://schemas.openxmlformats.org/officeDocument/2006/relationships/notesSlide" Target="/ppt/notesSlides/notesSlide18.xml" Id="Rfec5a8d0333643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476b56df556469d" /><Relationship Type="http://schemas.openxmlformats.org/officeDocument/2006/relationships/notesSlide" Target="/ppt/notesSlides/notesSlide19.xml" Id="R192ac8cc63764c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f6136fc1644173" /><Relationship Type="http://schemas.openxmlformats.org/officeDocument/2006/relationships/notesSlide" Target="/ppt/notesSlides/notesSlide20.xml" Id="R1860d26acf004b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45b8049b834797" /><Relationship Type="http://schemas.openxmlformats.org/officeDocument/2006/relationships/image" Target="/ppt/media/image4.png" Id="Rdb2815515f9c414d" /><Relationship Type="http://schemas.openxmlformats.org/officeDocument/2006/relationships/notesSlide" Target="/ppt/notesSlides/notesSlide21.xml" Id="Rd9263f4503704d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ce54dd45874576" /><Relationship Type="http://schemas.openxmlformats.org/officeDocument/2006/relationships/notesSlide" Target="/ppt/notesSlides/notesSlide22.xml" Id="Rae74976ee802478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148797ae87b4b99" /><Relationship Type="http://schemas.openxmlformats.org/officeDocument/2006/relationships/notesSlide" Target="/ppt/notesSlides/notesSlide23.xml" Id="R44c29aebd291467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40cacd2ca8e4d09" /><Relationship Type="http://schemas.openxmlformats.org/officeDocument/2006/relationships/notesSlide" Target="/ppt/notesSlides/notesSlide24.xml" Id="Rb08052f06aec4f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72869b43de54f1e" /><Relationship Type="http://schemas.openxmlformats.org/officeDocument/2006/relationships/notesSlide" Target="/ppt/notesSlides/notesSlide25.xml" Id="R37c65b05bef441a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3e3172e0e5a4915" /><Relationship Type="http://schemas.openxmlformats.org/officeDocument/2006/relationships/image" Target="/ppt/media/image5.png" Id="R7a6618bcdb084166" /><Relationship Type="http://schemas.openxmlformats.org/officeDocument/2006/relationships/notesSlide" Target="/ppt/notesSlides/notesSlide26.xml" Id="Rab464be374e6468a" /></Relationships>
</file>

<file path=ppt/slides/slide1.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b379cd78174b1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7C7BE5-1844-47E8-8384-EAF758A5AB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50B09">
                  <a:alpha val="94000"/>
                </a:srgbClr>
              </a:gs>
              <a:gs pos="53000">
                <a:srgbClr val="050B09">
                  <a:alpha val="76000"/>
                </a:srgbClr>
              </a:gs>
              <a:gs pos="100000">
                <a:srgbClr val="050B09">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ADAA0D-6C5E-41BB-8C45-8E9612BC63F0}"/>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MORE ATHLETE   /   DARREN   /   SEPTEMBER 2026</a:t>
            </a:r>
          </a:p>
        </p:txBody>
      </p:sp>
      <p:sp>
        <p:nvSpPr>
          <p:cNvPr id="4" name="">
            <a:extLst xmlns:a="http://schemas.openxmlformats.org/drawingml/2006/main">
              <a:ext uri="{FF2B5EF4-FFF2-40B4-BE49-F238E27FC236}">
                <a16:creationId xmlns:a16="http://schemas.microsoft.com/office/drawing/2014/main" id="{FEB63614-977B-496F-9564-C9A87853B154}"/>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F7B513B-3BC9-40DD-92FF-E15F7EA640F9}"/>
              </a:ext>
            </a:extLst>
          </p:cNvPr>
          <p:cNvSpPr>
            <a:spLocks xmlns:a="http://schemas.openxmlformats.org/drawingml/2006/main" noGrp="1"/>
          </p:cNvSpPr>
          <p:nvPr/>
        </p:nvSpPr>
        <p:spPr>
          <a:xfrm xmlns:a="http://schemas.openxmlformats.org/drawingml/2006/main">
            <a:off x="609600" y="1095375"/>
            <a:ext cx="7810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75" b="1">
                <a:solidFill>
                  <a:srgbClr val="F5F8F5"/>
                </a:solidFill>
                <a:latin typeface="Helvetica Neue"/>
                <a:ea typeface="Helvetica Neue"/>
                <a:cs typeface="Helvetica Neue"/>
              </a:defRPr>
            </a:pPr>
            <a:r>
              <a:rPr sz="4875" b="1">
                <a:solidFill>
                  <a:srgbClr val="F5F8F5"/>
                </a:solidFill>
                <a:latin typeface="Helvetica Neue"/>
                <a:ea typeface="Helvetica Neue"/>
                <a:cs typeface="Helvetica Neue"/>
              </a:rPr>
              <a:t>The MORE Athlete</a:t>
            </a:r>
          </a:p>
          <a:p xmlns:a="http://schemas.openxmlformats.org/drawingml/2006/main">
            <a:pPr>
              <a:lnSpc>
                <a:spcPct val="110000"/>
              </a:lnSpc>
              <a:buNone/>
              <a:defRPr sz="4875" b="1">
                <a:solidFill>
                  <a:srgbClr val="F5F8F5"/>
                </a:solidFill>
                <a:latin typeface="Helvetica Neue"/>
                <a:ea typeface="Helvetica Neue"/>
                <a:cs typeface="Helvetica Neue"/>
              </a:defRPr>
            </a:pPr>
            <a:r>
              <a:rPr sz="4875" b="1">
                <a:solidFill>
                  <a:srgbClr val="F5F8F5"/>
                </a:solidFill>
                <a:latin typeface="Helvetica Neue"/>
                <a:ea typeface="Helvetica Neue"/>
                <a:cs typeface="Helvetica Neue"/>
              </a:rPr>
              <a:t>enterprise vision</a:t>
            </a:r>
          </a:p>
        </p:txBody>
      </p:sp>
      <p:sp>
        <p:nvSpPr>
          <p:cNvPr id="6" name="">
            <a:extLst xmlns:a="http://schemas.openxmlformats.org/drawingml/2006/main">
              <a:ext uri="{FF2B5EF4-FFF2-40B4-BE49-F238E27FC236}">
                <a16:creationId xmlns:a16="http://schemas.microsoft.com/office/drawing/2014/main" id="{4371DCB5-25B1-4882-9A15-3E48361BC488}"/>
              </a:ext>
            </a:extLst>
          </p:cNvPr>
          <p:cNvSpPr>
            <a:spLocks xmlns:a="http://schemas.openxmlformats.org/drawingml/2006/main" noGrp="1"/>
          </p:cNvSpPr>
          <p:nvPr/>
        </p:nvSpPr>
        <p:spPr>
          <a:xfrm xmlns:a="http://schemas.openxmlformats.org/drawingml/2006/main">
            <a:off x="609600" y="3495675"/>
            <a:ext cx="733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One academy today.</a:t>
            </a:r>
          </a:p>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A continuing development</a:t>
            </a:r>
          </a:p>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record for the future.</a:t>
            </a:r>
          </a:p>
        </p:txBody>
      </p:sp>
    </p:spTree>
    <p:extLst>
      <p:ext uri="{BB962C8B-B14F-4D97-AF65-F5344CB8AC3E}">
        <p14:creationId xmlns:p14="http://schemas.microsoft.com/office/powerpoint/2010/main" val="1037048566"/>
      </p:ext>
    </p:extLst>
  </p:cSld>
</p:sld>
</file>

<file path=ppt/slides/slide2.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89f168744fa49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77F503-1F27-4309-9F18-362BE559DC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0E0B">
              <a:alpha val="92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77D955-E2B4-4F73-A17E-653ADB670F0D}"/>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destination</a:t>
            </a:r>
          </a:p>
        </p:txBody>
      </p:sp>
      <p:sp>
        <p:nvSpPr>
          <p:cNvPr id="4" name="">
            <a:extLst xmlns:a="http://schemas.openxmlformats.org/drawingml/2006/main">
              <a:ext uri="{FF2B5EF4-FFF2-40B4-BE49-F238E27FC236}">
                <a16:creationId xmlns:a16="http://schemas.microsoft.com/office/drawing/2014/main" id="{4031058C-098E-4B51-97C7-8B0EE0B4BA83}"/>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5" name="">
            <a:extLst xmlns:a="http://schemas.openxmlformats.org/drawingml/2006/main">
              <a:ext uri="{FF2B5EF4-FFF2-40B4-BE49-F238E27FC236}">
                <a16:creationId xmlns:a16="http://schemas.microsoft.com/office/drawing/2014/main" id="{E8C7DA89-884F-4E2F-9C14-DBFC294E5F23}"/>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E579554D-E04F-42FD-8F7A-DCF20AAB0513}"/>
              </a:ext>
            </a:extLst>
          </p:cNvPr>
          <p:cNvSpPr>
            <a:spLocks xmlns:a="http://schemas.openxmlformats.org/drawingml/2006/main" noGrp="1"/>
          </p:cNvSpPr>
          <p:nvPr/>
        </p:nvSpPr>
        <p:spPr>
          <a:xfrm xmlns:a="http://schemas.openxmlformats.org/drawingml/2006/main">
            <a:off x="609600" y="191452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B4E2CD"/>
                </a:solidFill>
                <a:latin typeface="Helvetica Neue"/>
                <a:ea typeface="Helvetica Neue"/>
                <a:cs typeface="Helvetica Neue"/>
              </a:defRPr>
            </a:pPr>
            <a:r>
              <a:rPr sz="3300" b="1">
                <a:solidFill>
                  <a:srgbClr val="B4E2CD"/>
                </a:solidFill>
                <a:latin typeface="Helvetica Neue"/>
                <a:ea typeface="Helvetica Neue"/>
                <a:cs typeface="Helvetica Neue"/>
              </a:rPr>
              <a:t>An athlete’s development story</a:t>
            </a:r>
          </a:p>
          <a:p xmlns:a="http://schemas.openxmlformats.org/drawingml/2006/main">
            <a:pPr>
              <a:lnSpc>
                <a:spcPct val="110000"/>
              </a:lnSpc>
              <a:buNone/>
              <a:defRPr sz="3300" b="1">
                <a:solidFill>
                  <a:srgbClr val="B4E2CD"/>
                </a:solidFill>
                <a:latin typeface="Helvetica Neue"/>
                <a:ea typeface="Helvetica Neue"/>
                <a:cs typeface="Helvetica Neue"/>
              </a:defRPr>
            </a:pPr>
            <a:r>
              <a:rPr sz="3300" b="1">
                <a:solidFill>
                  <a:srgbClr val="B4E2CD"/>
                </a:solidFill>
                <a:latin typeface="Helvetica Neue"/>
                <a:ea typeface="Helvetica Neue"/>
                <a:cs typeface="Helvetica Neue"/>
              </a:rPr>
              <a:t>can remain useful as their world changes.</a:t>
            </a:r>
          </a:p>
        </p:txBody>
      </p:sp>
      <p:sp>
        <p:nvSpPr>
          <p:cNvPr id="7" name="">
            <a:extLst xmlns:a="http://schemas.openxmlformats.org/drawingml/2006/main">
              <a:ext uri="{FF2B5EF4-FFF2-40B4-BE49-F238E27FC236}">
                <a16:creationId xmlns:a16="http://schemas.microsoft.com/office/drawing/2014/main" id="{8A47AED0-6E11-4942-B77D-FB39CC70714C}"/>
              </a:ext>
            </a:extLst>
          </p:cNvPr>
          <p:cNvSpPr>
            <a:spLocks xmlns:a="http://schemas.openxmlformats.org/drawingml/2006/main" noGrp="1"/>
          </p:cNvSpPr>
          <p:nvPr/>
        </p:nvSpPr>
        <p:spPr>
          <a:xfrm xmlns:a="http://schemas.openxmlformats.org/drawingml/2006/main">
            <a:off x="609600" y="35718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FOR THE ATHLETE</a:t>
            </a:r>
          </a:p>
        </p:txBody>
      </p:sp>
      <p:sp>
        <p:nvSpPr>
          <p:cNvPr id="8" name="">
            <a:extLst xmlns:a="http://schemas.openxmlformats.org/drawingml/2006/main">
              <a:ext uri="{FF2B5EF4-FFF2-40B4-BE49-F238E27FC236}">
                <a16:creationId xmlns:a16="http://schemas.microsoft.com/office/drawing/2014/main" id="{7DD8ED0D-F1EE-4D07-9BCB-7CB036A627F5}"/>
              </a:ext>
            </a:extLst>
          </p:cNvPr>
          <p:cNvSpPr>
            <a:spLocks xmlns:a="http://schemas.openxmlformats.org/drawingml/2006/main" noGrp="1"/>
          </p:cNvSpPr>
          <p:nvPr/>
        </p:nvSpPr>
        <p:spPr>
          <a:xfrm xmlns:a="http://schemas.openxmlformats.org/drawingml/2006/main">
            <a:off x="2943225" y="35718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What should I work on, and what did we learn last time?</a:t>
            </a:r>
          </a:p>
        </p:txBody>
      </p:sp>
      <p:sp>
        <p:nvSpPr>
          <p:cNvPr id="9" name="">
            <a:extLst xmlns:a="http://schemas.openxmlformats.org/drawingml/2006/main">
              <a:ext uri="{FF2B5EF4-FFF2-40B4-BE49-F238E27FC236}">
                <a16:creationId xmlns:a16="http://schemas.microsoft.com/office/drawing/2014/main" id="{75626F2B-E424-4669-AE3C-13B0D8CD44F8}"/>
              </a:ext>
            </a:extLst>
          </p:cNvPr>
          <p:cNvSpPr>
            <a:spLocks xmlns:a="http://schemas.openxmlformats.org/drawingml/2006/main" noGrp="1"/>
          </p:cNvSpPr>
          <p:nvPr/>
        </p:nvSpPr>
        <p:spPr>
          <a:xfrm xmlns:a="http://schemas.openxmlformats.org/drawingml/2006/main">
            <a:off x="609600" y="43529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FOR THE COACH</a:t>
            </a:r>
          </a:p>
        </p:txBody>
      </p:sp>
      <p:sp>
        <p:nvSpPr>
          <p:cNvPr id="10" name="">
            <a:extLst xmlns:a="http://schemas.openxmlformats.org/drawingml/2006/main">
              <a:ext uri="{FF2B5EF4-FFF2-40B4-BE49-F238E27FC236}">
                <a16:creationId xmlns:a16="http://schemas.microsoft.com/office/drawing/2014/main" id="{88E8319D-7909-4385-9FC0-6A114760ED5A}"/>
              </a:ext>
            </a:extLst>
          </p:cNvPr>
          <p:cNvSpPr>
            <a:spLocks xmlns:a="http://schemas.openxmlformats.org/drawingml/2006/main" noGrp="1"/>
          </p:cNvSpPr>
          <p:nvPr/>
        </p:nvSpPr>
        <p:spPr>
          <a:xfrm xmlns:a="http://schemas.openxmlformats.org/drawingml/2006/main">
            <a:off x="2943225" y="43529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What does this athlete need from me now?</a:t>
            </a:r>
          </a:p>
        </p:txBody>
      </p:sp>
      <p:sp>
        <p:nvSpPr>
          <p:cNvPr id="11" name="">
            <a:extLst xmlns:a="http://schemas.openxmlformats.org/drawingml/2006/main">
              <a:ext uri="{FF2B5EF4-FFF2-40B4-BE49-F238E27FC236}">
                <a16:creationId xmlns:a16="http://schemas.microsoft.com/office/drawing/2014/main" id="{F8458B77-DB31-4F35-BE0E-D5A58FDE5DC5}"/>
              </a:ext>
            </a:extLst>
          </p:cNvPr>
          <p:cNvSpPr>
            <a:spLocks xmlns:a="http://schemas.openxmlformats.org/drawingml/2006/main" noGrp="1"/>
          </p:cNvSpPr>
          <p:nvPr/>
        </p:nvSpPr>
        <p:spPr>
          <a:xfrm xmlns:a="http://schemas.openxmlformats.org/drawingml/2006/main">
            <a:off x="609600" y="51339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FOR THE PROGRAM</a:t>
            </a:r>
          </a:p>
        </p:txBody>
      </p:sp>
      <p:sp>
        <p:nvSpPr>
          <p:cNvPr id="12" name="">
            <a:extLst xmlns:a="http://schemas.openxmlformats.org/drawingml/2006/main">
              <a:ext uri="{FF2B5EF4-FFF2-40B4-BE49-F238E27FC236}">
                <a16:creationId xmlns:a16="http://schemas.microsoft.com/office/drawing/2014/main" id="{B4C71F38-4D12-499A-80B8-62EF87B62C26}"/>
              </a:ext>
            </a:extLst>
          </p:cNvPr>
          <p:cNvSpPr>
            <a:spLocks xmlns:a="http://schemas.openxmlformats.org/drawingml/2006/main" noGrp="1"/>
          </p:cNvSpPr>
          <p:nvPr/>
        </p:nvSpPr>
        <p:spPr>
          <a:xfrm xmlns:a="http://schemas.openxmlformats.org/drawingml/2006/main">
            <a:off x="2943225" y="51339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Where does our development process need attention?</a:t>
            </a:r>
          </a:p>
        </p:txBody>
      </p:sp>
    </p:spTree>
    <p:extLst>
      <p:ext uri="{BB962C8B-B14F-4D97-AF65-F5344CB8AC3E}">
        <p14:creationId xmlns:p14="http://schemas.microsoft.com/office/powerpoint/2010/main" val="874953596"/>
      </p:ext>
    </p:extLst>
  </p:cSld>
</p:sld>
</file>

<file path=ppt/slides/slide3.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DDDAA70-009A-4AB3-BB89-DB15B1439205}"/>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six stages</a:t>
            </a:r>
          </a:p>
        </p:txBody>
      </p:sp>
      <p:sp>
        <p:nvSpPr>
          <p:cNvPr id="2" name="">
            <a:extLst xmlns:a="http://schemas.openxmlformats.org/drawingml/2006/main">
              <a:ext uri="{FF2B5EF4-FFF2-40B4-BE49-F238E27FC236}">
                <a16:creationId xmlns:a16="http://schemas.microsoft.com/office/drawing/2014/main" id="{3FFD3C75-0C23-44C5-9CE3-F0258B46C7CD}"/>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897FFA0A-6649-4669-8E83-189E27497961}"/>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0AB4C24-9665-42DD-AC85-C4B53C47984E}"/>
              </a:ext>
            </a:extLst>
          </p:cNvPr>
          <p:cNvSpPr>
            <a:spLocks xmlns:a="http://schemas.openxmlformats.org/drawingml/2006/main" noGrp="1"/>
          </p:cNvSpPr>
          <p:nvPr/>
        </p:nvSpPr>
        <p:spPr>
          <a:xfrm xmlns:a="http://schemas.openxmlformats.org/drawingml/2006/main">
            <a:off x="60960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8B5A61AE-D186-46B4-9702-6ECCC20F03E6}"/>
              </a:ext>
            </a:extLst>
          </p:cNvPr>
          <p:cNvSpPr>
            <a:spLocks xmlns:a="http://schemas.openxmlformats.org/drawingml/2006/main" noGrp="1"/>
          </p:cNvSpPr>
          <p:nvPr/>
        </p:nvSpPr>
        <p:spPr>
          <a:xfrm xmlns:a="http://schemas.openxmlformats.org/drawingml/2006/main">
            <a:off x="60960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LAUNCHPAD</a:t>
            </a:r>
          </a:p>
        </p:txBody>
      </p:sp>
      <p:sp>
        <p:nvSpPr>
          <p:cNvPr id="6" name="">
            <a:extLst xmlns:a="http://schemas.openxmlformats.org/drawingml/2006/main">
              <a:ext uri="{FF2B5EF4-FFF2-40B4-BE49-F238E27FC236}">
                <a16:creationId xmlns:a16="http://schemas.microsoft.com/office/drawing/2014/main" id="{CFE85B01-27AF-4BE5-A3C1-E695108C7E76}"/>
              </a:ext>
            </a:extLst>
          </p:cNvPr>
          <p:cNvSpPr>
            <a:spLocks xmlns:a="http://schemas.openxmlformats.org/drawingml/2006/main" noGrp="1"/>
          </p:cNvSpPr>
          <p:nvPr/>
        </p:nvSpPr>
        <p:spPr>
          <a:xfrm xmlns:a="http://schemas.openxmlformats.org/drawingml/2006/main">
            <a:off x="60960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Prove useful</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coaching</a:t>
            </a:r>
          </a:p>
        </p:txBody>
      </p:sp>
      <p:sp>
        <p:nvSpPr>
          <p:cNvPr id="7" name="">
            <a:extLst xmlns:a="http://schemas.openxmlformats.org/drawingml/2006/main">
              <a:ext uri="{FF2B5EF4-FFF2-40B4-BE49-F238E27FC236}">
                <a16:creationId xmlns:a16="http://schemas.microsoft.com/office/drawing/2014/main" id="{6530C882-AF99-4EE2-9952-11FA0C5D0E0F}"/>
              </a:ext>
            </a:extLst>
          </p:cNvPr>
          <p:cNvSpPr>
            <a:spLocks xmlns:a="http://schemas.openxmlformats.org/drawingml/2006/main" noGrp="1"/>
          </p:cNvSpPr>
          <p:nvPr/>
        </p:nvSpPr>
        <p:spPr>
          <a:xfrm xmlns:a="http://schemas.openxmlformats.org/drawingml/2006/main">
            <a:off x="245745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8B586EC-2B67-493E-ABE0-84BFEF1118E7}"/>
              </a:ext>
            </a:extLst>
          </p:cNvPr>
          <p:cNvSpPr>
            <a:spLocks xmlns:a="http://schemas.openxmlformats.org/drawingml/2006/main" noGrp="1"/>
          </p:cNvSpPr>
          <p:nvPr/>
        </p:nvSpPr>
        <p:spPr>
          <a:xfrm xmlns:a="http://schemas.openxmlformats.org/drawingml/2006/main">
            <a:off x="245745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PLAYBOOK</a:t>
            </a:r>
          </a:p>
        </p:txBody>
      </p:sp>
      <p:sp>
        <p:nvSpPr>
          <p:cNvPr id="9" name="">
            <a:extLst xmlns:a="http://schemas.openxmlformats.org/drawingml/2006/main">
              <a:ext uri="{FF2B5EF4-FFF2-40B4-BE49-F238E27FC236}">
                <a16:creationId xmlns:a16="http://schemas.microsoft.com/office/drawing/2014/main" id="{4F5F0B3F-845D-4988-96A5-8AE6CA0AF523}"/>
              </a:ext>
            </a:extLst>
          </p:cNvPr>
          <p:cNvSpPr>
            <a:spLocks xmlns:a="http://schemas.openxmlformats.org/drawingml/2006/main" noGrp="1"/>
          </p:cNvSpPr>
          <p:nvPr/>
        </p:nvSpPr>
        <p:spPr>
          <a:xfrm xmlns:a="http://schemas.openxmlformats.org/drawingml/2006/main">
            <a:off x="245745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Repeat the</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experience</a:t>
            </a:r>
          </a:p>
        </p:txBody>
      </p:sp>
      <p:sp>
        <p:nvSpPr>
          <p:cNvPr id="10" name="">
            <a:extLst xmlns:a="http://schemas.openxmlformats.org/drawingml/2006/main">
              <a:ext uri="{FF2B5EF4-FFF2-40B4-BE49-F238E27FC236}">
                <a16:creationId xmlns:a16="http://schemas.microsoft.com/office/drawing/2014/main" id="{4206196B-722F-4F5D-B8D7-490C25D2FF8A}"/>
              </a:ext>
            </a:extLst>
          </p:cNvPr>
          <p:cNvSpPr>
            <a:spLocks xmlns:a="http://schemas.openxmlformats.org/drawingml/2006/main" noGrp="1"/>
          </p:cNvSpPr>
          <p:nvPr/>
        </p:nvSpPr>
        <p:spPr>
          <a:xfrm xmlns:a="http://schemas.openxmlformats.org/drawingml/2006/main">
            <a:off x="430530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CEA18757-AF2E-4265-88D0-A8B5ACC97D2F}"/>
              </a:ext>
            </a:extLst>
          </p:cNvPr>
          <p:cNvSpPr>
            <a:spLocks xmlns:a="http://schemas.openxmlformats.org/drawingml/2006/main" noGrp="1"/>
          </p:cNvSpPr>
          <p:nvPr/>
        </p:nvSpPr>
        <p:spPr>
          <a:xfrm xmlns:a="http://schemas.openxmlformats.org/drawingml/2006/main">
            <a:off x="430530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ACADEMY</a:t>
            </a:r>
          </a:p>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OS</a:t>
            </a:r>
          </a:p>
        </p:txBody>
      </p:sp>
      <p:sp>
        <p:nvSpPr>
          <p:cNvPr id="12" name="">
            <a:extLst xmlns:a="http://schemas.openxmlformats.org/drawingml/2006/main">
              <a:ext uri="{FF2B5EF4-FFF2-40B4-BE49-F238E27FC236}">
                <a16:creationId xmlns:a16="http://schemas.microsoft.com/office/drawing/2014/main" id="{ED717073-356F-4654-8B66-D0B1405A7CC5}"/>
              </a:ext>
            </a:extLst>
          </p:cNvPr>
          <p:cNvSpPr>
            <a:spLocks xmlns:a="http://schemas.openxmlformats.org/drawingml/2006/main" noGrp="1"/>
          </p:cNvSpPr>
          <p:nvPr/>
        </p:nvSpPr>
        <p:spPr>
          <a:xfrm xmlns:a="http://schemas.openxmlformats.org/drawingml/2006/main">
            <a:off x="430530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Support the</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whole program</a:t>
            </a:r>
          </a:p>
        </p:txBody>
      </p:sp>
      <p:sp>
        <p:nvSpPr>
          <p:cNvPr id="13" name="">
            <a:extLst xmlns:a="http://schemas.openxmlformats.org/drawingml/2006/main">
              <a:ext uri="{FF2B5EF4-FFF2-40B4-BE49-F238E27FC236}">
                <a16:creationId xmlns:a16="http://schemas.microsoft.com/office/drawing/2014/main" id="{9C102C24-CB43-4212-AA92-F1092584E67B}"/>
              </a:ext>
            </a:extLst>
          </p:cNvPr>
          <p:cNvSpPr>
            <a:spLocks xmlns:a="http://schemas.openxmlformats.org/drawingml/2006/main" noGrp="1"/>
          </p:cNvSpPr>
          <p:nvPr/>
        </p:nvSpPr>
        <p:spPr>
          <a:xfrm xmlns:a="http://schemas.openxmlformats.org/drawingml/2006/main">
            <a:off x="615315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9316FE03-73BA-494E-8325-88EC5DBCFE41}"/>
              </a:ext>
            </a:extLst>
          </p:cNvPr>
          <p:cNvSpPr>
            <a:spLocks xmlns:a="http://schemas.openxmlformats.org/drawingml/2006/main" noGrp="1"/>
          </p:cNvSpPr>
          <p:nvPr/>
        </p:nvSpPr>
        <p:spPr>
          <a:xfrm xmlns:a="http://schemas.openxmlformats.org/drawingml/2006/main">
            <a:off x="615315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ATHLETE</a:t>
            </a:r>
          </a:p>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PASSPORT</a:t>
            </a:r>
          </a:p>
        </p:txBody>
      </p:sp>
      <p:sp>
        <p:nvSpPr>
          <p:cNvPr id="15" name="">
            <a:extLst xmlns:a="http://schemas.openxmlformats.org/drawingml/2006/main">
              <a:ext uri="{FF2B5EF4-FFF2-40B4-BE49-F238E27FC236}">
                <a16:creationId xmlns:a16="http://schemas.microsoft.com/office/drawing/2014/main" id="{874854B2-4D56-48DF-9349-AE4D734C0F48}"/>
              </a:ext>
            </a:extLst>
          </p:cNvPr>
          <p:cNvSpPr>
            <a:spLocks xmlns:a="http://schemas.openxmlformats.org/drawingml/2006/main" noGrp="1"/>
          </p:cNvSpPr>
          <p:nvPr/>
        </p:nvSpPr>
        <p:spPr>
          <a:xfrm xmlns:a="http://schemas.openxmlformats.org/drawingml/2006/main">
            <a:off x="615315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Carry a trusted</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record forward</a:t>
            </a:r>
          </a:p>
        </p:txBody>
      </p:sp>
      <p:sp>
        <p:nvSpPr>
          <p:cNvPr id="16" name="">
            <a:extLst xmlns:a="http://schemas.openxmlformats.org/drawingml/2006/main">
              <a:ext uri="{FF2B5EF4-FFF2-40B4-BE49-F238E27FC236}">
                <a16:creationId xmlns:a16="http://schemas.microsoft.com/office/drawing/2014/main" id="{8EDF05F7-AF40-48AD-8101-9CAF9293FF85}"/>
              </a:ext>
            </a:extLst>
          </p:cNvPr>
          <p:cNvSpPr>
            <a:spLocks xmlns:a="http://schemas.openxmlformats.org/drawingml/2006/main" noGrp="1"/>
          </p:cNvSpPr>
          <p:nvPr/>
        </p:nvSpPr>
        <p:spPr>
          <a:xfrm xmlns:a="http://schemas.openxmlformats.org/drawingml/2006/main">
            <a:off x="800100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05</a:t>
            </a:r>
          </a:p>
        </p:txBody>
      </p:sp>
      <p:sp>
        <p:nvSpPr>
          <p:cNvPr id="17" name="">
            <a:extLst xmlns:a="http://schemas.openxmlformats.org/drawingml/2006/main">
              <a:ext uri="{FF2B5EF4-FFF2-40B4-BE49-F238E27FC236}">
                <a16:creationId xmlns:a16="http://schemas.microsoft.com/office/drawing/2014/main" id="{0733C0CB-BDC4-4B4D-BE25-57F297B1163F}"/>
              </a:ext>
            </a:extLst>
          </p:cNvPr>
          <p:cNvSpPr>
            <a:spLocks xmlns:a="http://schemas.openxmlformats.org/drawingml/2006/main" noGrp="1"/>
          </p:cNvSpPr>
          <p:nvPr/>
        </p:nvSpPr>
        <p:spPr>
          <a:xfrm xmlns:a="http://schemas.openxmlformats.org/drawingml/2006/main">
            <a:off x="800100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NEXT</a:t>
            </a:r>
          </a:p>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LEVEL</a:t>
            </a:r>
          </a:p>
        </p:txBody>
      </p:sp>
      <p:sp>
        <p:nvSpPr>
          <p:cNvPr id="18" name="">
            <a:extLst xmlns:a="http://schemas.openxmlformats.org/drawingml/2006/main">
              <a:ext uri="{FF2B5EF4-FFF2-40B4-BE49-F238E27FC236}">
                <a16:creationId xmlns:a16="http://schemas.microsoft.com/office/drawing/2014/main" id="{115358DB-F1A6-444B-9ED0-24F4DA95346B}"/>
              </a:ext>
            </a:extLst>
          </p:cNvPr>
          <p:cNvSpPr>
            <a:spLocks xmlns:a="http://schemas.openxmlformats.org/drawingml/2006/main" noGrp="1"/>
          </p:cNvSpPr>
          <p:nvPr/>
        </p:nvSpPr>
        <p:spPr>
          <a:xfrm xmlns:a="http://schemas.openxmlformats.org/drawingml/2006/main">
            <a:off x="800100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Connect the</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next opportunity</a:t>
            </a:r>
          </a:p>
        </p:txBody>
      </p:sp>
      <p:sp>
        <p:nvSpPr>
          <p:cNvPr id="19" name="">
            <a:extLst xmlns:a="http://schemas.openxmlformats.org/drawingml/2006/main">
              <a:ext uri="{FF2B5EF4-FFF2-40B4-BE49-F238E27FC236}">
                <a16:creationId xmlns:a16="http://schemas.microsoft.com/office/drawing/2014/main" id="{0BAC2564-0BCB-4EFE-A49A-9D8AF9DDB7A8}"/>
              </a:ext>
            </a:extLst>
          </p:cNvPr>
          <p:cNvSpPr>
            <a:spLocks xmlns:a="http://schemas.openxmlformats.org/drawingml/2006/main" noGrp="1"/>
          </p:cNvSpPr>
          <p:nvPr/>
        </p:nvSpPr>
        <p:spPr>
          <a:xfrm xmlns:a="http://schemas.openxmlformats.org/drawingml/2006/main">
            <a:off x="9848850" y="2276475"/>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B4E2CD"/>
                </a:solidFill>
                <a:latin typeface="Helvetica Neue"/>
                <a:ea typeface="Helvetica Neue"/>
                <a:cs typeface="Helvetica Neue"/>
              </a:defRPr>
            </a:pPr>
            <a:r>
              <a:rPr sz="4350" b="1">
                <a:solidFill>
                  <a:srgbClr val="B4E2CD"/>
                </a:solidFill>
                <a:latin typeface="Helvetica Neue"/>
                <a:ea typeface="Helvetica Neue"/>
                <a:cs typeface="Helvetica Neue"/>
              </a:rPr>
              <a:t>06</a:t>
            </a:r>
          </a:p>
        </p:txBody>
      </p:sp>
      <p:sp>
        <p:nvSpPr>
          <p:cNvPr id="20" name="">
            <a:extLst xmlns:a="http://schemas.openxmlformats.org/drawingml/2006/main">
              <a:ext uri="{FF2B5EF4-FFF2-40B4-BE49-F238E27FC236}">
                <a16:creationId xmlns:a16="http://schemas.microsoft.com/office/drawing/2014/main" id="{5E1A1141-1DBA-4FF6-BC17-C31258472603}"/>
              </a:ext>
            </a:extLst>
          </p:cNvPr>
          <p:cNvSpPr>
            <a:spLocks xmlns:a="http://schemas.openxmlformats.org/drawingml/2006/main" noGrp="1"/>
          </p:cNvSpPr>
          <p:nvPr/>
        </p:nvSpPr>
        <p:spPr>
          <a:xfrm xmlns:a="http://schemas.openxmlformats.org/drawingml/2006/main">
            <a:off x="9848850" y="338137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ATHLETE</a:t>
            </a:r>
          </a:p>
          <a:p xmlns:a="http://schemas.openxmlformats.org/drawingml/2006/main">
            <a:pPr>
              <a:lnSpc>
                <a:spcPct val="110000"/>
              </a:lnSpc>
              <a:buNone/>
              <a:defRPr sz="1950" b="1">
                <a:solidFill>
                  <a:srgbClr val="F5F8F5"/>
                </a:solidFill>
                <a:latin typeface="Helvetica Neue"/>
                <a:ea typeface="Helvetica Neue"/>
                <a:cs typeface="Helvetica Neue"/>
              </a:defRPr>
            </a:pPr>
            <a:r>
              <a:rPr sz="1950" b="1">
                <a:solidFill>
                  <a:srgbClr val="F5F8F5"/>
                </a:solidFill>
                <a:latin typeface="Helvetica Neue"/>
                <a:ea typeface="Helvetica Neue"/>
                <a:cs typeface="Helvetica Neue"/>
              </a:rPr>
              <a:t>NETWORK</a:t>
            </a:r>
          </a:p>
        </p:txBody>
      </p:sp>
      <p:sp>
        <p:nvSpPr>
          <p:cNvPr id="21" name="">
            <a:extLst xmlns:a="http://schemas.openxmlformats.org/drawingml/2006/main">
              <a:ext uri="{FF2B5EF4-FFF2-40B4-BE49-F238E27FC236}">
                <a16:creationId xmlns:a16="http://schemas.microsoft.com/office/drawing/2014/main" id="{1EDCCDCB-1838-4E74-960B-252491D5BE38}"/>
              </a:ext>
            </a:extLst>
          </p:cNvPr>
          <p:cNvSpPr>
            <a:spLocks xmlns:a="http://schemas.openxmlformats.org/drawingml/2006/main" noGrp="1"/>
          </p:cNvSpPr>
          <p:nvPr/>
        </p:nvSpPr>
        <p:spPr>
          <a:xfrm xmlns:a="http://schemas.openxmlformats.org/drawingml/2006/main">
            <a:off x="9848850" y="4448175"/>
            <a:ext cx="171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Serve connected</a:t>
            </a:r>
          </a:p>
          <a:p xmlns:a="http://schemas.openxmlformats.org/drawingml/2006/main">
            <a:pPr>
              <a:lnSpc>
                <a:spcPct val="110000"/>
              </a:lnSpc>
              <a:buNone/>
              <a:defRPr sz="1875" b="0">
                <a:solidFill>
                  <a:srgbClr val="C2CDC6"/>
                </a:solidFill>
                <a:latin typeface="Helvetica Neue"/>
                <a:ea typeface="Helvetica Neue"/>
                <a:cs typeface="Helvetica Neue"/>
              </a:defRPr>
            </a:pPr>
            <a:r>
              <a:rPr sz="1875" b="0">
                <a:solidFill>
                  <a:srgbClr val="C2CDC6"/>
                </a:solidFill>
                <a:latin typeface="Helvetica Neue"/>
                <a:ea typeface="Helvetica Neue"/>
                <a:cs typeface="Helvetica Neue"/>
              </a:rPr>
              <a:t>institutions</a:t>
            </a:r>
          </a:p>
        </p:txBody>
      </p:sp>
      <p:sp>
        <p:nvSpPr>
          <p:cNvPr id="22" name="">
            <a:extLst xmlns:a="http://schemas.openxmlformats.org/drawingml/2006/main">
              <a:ext uri="{FF2B5EF4-FFF2-40B4-BE49-F238E27FC236}">
                <a16:creationId xmlns:a16="http://schemas.microsoft.com/office/drawing/2014/main" id="{E9C88E90-1A94-4631-87D6-36D3AE0EF075}"/>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Each stage creates the foundation for the next.</a:t>
            </a:r>
          </a:p>
        </p:txBody>
      </p:sp>
    </p:spTree>
    <p:extLst>
      <p:ext uri="{BB962C8B-B14F-4D97-AF65-F5344CB8AC3E}">
        <p14:creationId xmlns:p14="http://schemas.microsoft.com/office/powerpoint/2010/main" val="323995189"/>
      </p:ext>
    </p:extLst>
  </p:cSld>
</p:sld>
</file>

<file path=ppt/slides/slide4.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35F161-560E-4C52-A992-F42F2D659F54}"/>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Epic / Total Expert lesson</a:t>
            </a:r>
          </a:p>
        </p:txBody>
      </p:sp>
      <p:sp>
        <p:nvSpPr>
          <p:cNvPr id="2" name="">
            <a:extLst xmlns:a="http://schemas.openxmlformats.org/drawingml/2006/main">
              <a:ext uri="{FF2B5EF4-FFF2-40B4-BE49-F238E27FC236}">
                <a16:creationId xmlns:a16="http://schemas.microsoft.com/office/drawing/2014/main" id="{F88ECB81-C6BB-476D-8076-82E18EF04C40}"/>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059D3345-58D5-48A5-B4CC-B4A709DA1756}"/>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AAE1D6F-0673-4DDC-833E-105506AA5B72}"/>
              </a:ext>
            </a:extLst>
          </p:cNvPr>
          <p:cNvSpPr>
            <a:spLocks xmlns:a="http://schemas.openxmlformats.org/drawingml/2006/main" noGrp="1"/>
          </p:cNvSpPr>
          <p:nvPr/>
        </p:nvSpPr>
        <p:spPr>
          <a:xfrm xmlns:a="http://schemas.openxmlformats.org/drawingml/2006/main">
            <a:off x="609600" y="2000250"/>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EPIC</a:t>
            </a:r>
          </a:p>
        </p:txBody>
      </p:sp>
      <p:sp>
        <p:nvSpPr>
          <p:cNvPr id="5" name="">
            <a:extLst xmlns:a="http://schemas.openxmlformats.org/drawingml/2006/main">
              <a:ext uri="{FF2B5EF4-FFF2-40B4-BE49-F238E27FC236}">
                <a16:creationId xmlns:a16="http://schemas.microsoft.com/office/drawing/2014/main" id="{36F344D5-6EAB-4608-8E7D-79B1A0A6729D}"/>
              </a:ext>
            </a:extLst>
          </p:cNvPr>
          <p:cNvSpPr>
            <a:spLocks xmlns:a="http://schemas.openxmlformats.org/drawingml/2006/main" noGrp="1"/>
          </p:cNvSpPr>
          <p:nvPr/>
        </p:nvSpPr>
        <p:spPr>
          <a:xfrm xmlns:a="http://schemas.openxmlformats.org/drawingml/2006/main">
            <a:off x="609600" y="2962275"/>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A continuing person-centered record supports work across changing care settings.</a:t>
            </a:r>
          </a:p>
        </p:txBody>
      </p:sp>
      <p:sp>
        <p:nvSpPr>
          <p:cNvPr id="6" name="">
            <a:extLst xmlns:a="http://schemas.openxmlformats.org/drawingml/2006/main">
              <a:ext uri="{FF2B5EF4-FFF2-40B4-BE49-F238E27FC236}">
                <a16:creationId xmlns:a16="http://schemas.microsoft.com/office/drawing/2014/main" id="{2977C7D1-A5B3-495E-B166-0C5CF2A195D8}"/>
              </a:ext>
            </a:extLst>
          </p:cNvPr>
          <p:cNvSpPr>
            <a:spLocks xmlns:a="http://schemas.openxmlformats.org/drawingml/2006/main" noGrp="1"/>
          </p:cNvSpPr>
          <p:nvPr/>
        </p:nvSpPr>
        <p:spPr>
          <a:xfrm xmlns:a="http://schemas.openxmlformats.org/drawingml/2006/main">
            <a:off x="6096000" y="2000250"/>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TOTAL EXPERT</a:t>
            </a:r>
          </a:p>
        </p:txBody>
      </p:sp>
      <p:sp>
        <p:nvSpPr>
          <p:cNvPr id="7" name="">
            <a:extLst xmlns:a="http://schemas.openxmlformats.org/drawingml/2006/main">
              <a:ext uri="{FF2B5EF4-FFF2-40B4-BE49-F238E27FC236}">
                <a16:creationId xmlns:a16="http://schemas.microsoft.com/office/drawing/2014/main" id="{811844F1-B2D7-4769-92DB-81F817BE0065}"/>
              </a:ext>
            </a:extLst>
          </p:cNvPr>
          <p:cNvSpPr>
            <a:spLocks xmlns:a="http://schemas.openxmlformats.org/drawingml/2006/main" noGrp="1"/>
          </p:cNvSpPr>
          <p:nvPr/>
        </p:nvSpPr>
        <p:spPr>
          <a:xfrm xmlns:a="http://schemas.openxmlformats.org/drawingml/2006/main">
            <a:off x="6096000" y="2962275"/>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A useful product and a real pilot can earn a broader institutional deployment.</a:t>
            </a:r>
          </a:p>
        </p:txBody>
      </p:sp>
      <p:sp>
        <p:nvSpPr>
          <p:cNvPr id="8" name="">
            <a:extLst xmlns:a="http://schemas.openxmlformats.org/drawingml/2006/main">
              <a:ext uri="{FF2B5EF4-FFF2-40B4-BE49-F238E27FC236}">
                <a16:creationId xmlns:a16="http://schemas.microsoft.com/office/drawing/2014/main" id="{491B6BFE-5A37-4A23-A342-448FCF39CCB9}"/>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For MORE: useful work, trusted history, greater responsibility.</a:t>
            </a:r>
          </a:p>
        </p:txBody>
      </p:sp>
    </p:spTree>
    <p:extLst>
      <p:ext uri="{BB962C8B-B14F-4D97-AF65-F5344CB8AC3E}">
        <p14:creationId xmlns:p14="http://schemas.microsoft.com/office/powerpoint/2010/main" val="315962219"/>
      </p:ext>
    </p:extLst>
  </p:cSld>
</p:sld>
</file>

<file path=ppt/slides/slide5.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8941e163cc34f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7BAC39-DC78-410E-9A5C-069708748B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0E0B">
              <a:alpha val="92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CABE09-A51D-40BC-A31A-DAE13B082A1D}"/>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development loop</a:t>
            </a:r>
          </a:p>
        </p:txBody>
      </p:sp>
      <p:sp>
        <p:nvSpPr>
          <p:cNvPr id="4" name="">
            <a:extLst xmlns:a="http://schemas.openxmlformats.org/drawingml/2006/main">
              <a:ext uri="{FF2B5EF4-FFF2-40B4-BE49-F238E27FC236}">
                <a16:creationId xmlns:a16="http://schemas.microsoft.com/office/drawing/2014/main" id="{58CCD47B-13A9-4BB4-ADC8-D644CA9B8567}"/>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5" name="">
            <a:extLst xmlns:a="http://schemas.openxmlformats.org/drawingml/2006/main">
              <a:ext uri="{FF2B5EF4-FFF2-40B4-BE49-F238E27FC236}">
                <a16:creationId xmlns:a16="http://schemas.microsoft.com/office/drawing/2014/main" id="{8C728A38-C805-441B-9B78-4B5D84C39C95}"/>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4B6B0D5-F528-4CA8-A7DF-BD757740CCB2}"/>
              </a:ext>
            </a:extLst>
          </p:cNvPr>
          <p:cNvSpPr>
            <a:spLocks xmlns:a="http://schemas.openxmlformats.org/drawingml/2006/main" noGrp="1"/>
          </p:cNvSpPr>
          <p:nvPr/>
        </p:nvSpPr>
        <p:spPr>
          <a:xfrm xmlns:a="http://schemas.openxmlformats.org/drawingml/2006/main">
            <a:off x="609600" y="19621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51BA102F-0BC5-4BF3-90C7-69E98A8E8965}"/>
              </a:ext>
            </a:extLst>
          </p:cNvPr>
          <p:cNvSpPr>
            <a:spLocks xmlns:a="http://schemas.openxmlformats.org/drawingml/2006/main" noGrp="1"/>
          </p:cNvSpPr>
          <p:nvPr/>
        </p:nvSpPr>
        <p:spPr>
          <a:xfrm xmlns:a="http://schemas.openxmlformats.org/drawingml/2006/main">
            <a:off x="2943225" y="19621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Youth BOS: the person. Youth APA: their current sport reality.</a:t>
            </a:r>
          </a:p>
        </p:txBody>
      </p:sp>
      <p:sp>
        <p:nvSpPr>
          <p:cNvPr id="8" name="">
            <a:extLst xmlns:a="http://schemas.openxmlformats.org/drawingml/2006/main">
              <a:ext uri="{FF2B5EF4-FFF2-40B4-BE49-F238E27FC236}">
                <a16:creationId xmlns:a16="http://schemas.microsoft.com/office/drawing/2014/main" id="{4BB621C1-1D44-477C-942A-0F85AD1E3DB7}"/>
              </a:ext>
            </a:extLst>
          </p:cNvPr>
          <p:cNvSpPr>
            <a:spLocks xmlns:a="http://schemas.openxmlformats.org/drawingml/2006/main" noGrp="1"/>
          </p:cNvSpPr>
          <p:nvPr/>
        </p:nvSpPr>
        <p:spPr>
          <a:xfrm xmlns:a="http://schemas.openxmlformats.org/drawingml/2006/main">
            <a:off x="609600" y="28956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EXPLORE</a:t>
            </a:r>
          </a:p>
        </p:txBody>
      </p:sp>
      <p:sp>
        <p:nvSpPr>
          <p:cNvPr id="9" name="">
            <a:extLst xmlns:a="http://schemas.openxmlformats.org/drawingml/2006/main">
              <a:ext uri="{FF2B5EF4-FFF2-40B4-BE49-F238E27FC236}">
                <a16:creationId xmlns:a16="http://schemas.microsoft.com/office/drawing/2014/main" id="{DA4E4AD8-7A25-40A7-A938-7873C51C3C99}"/>
              </a:ext>
            </a:extLst>
          </p:cNvPr>
          <p:cNvSpPr>
            <a:spLocks xmlns:a="http://schemas.openxmlformats.org/drawingml/2006/main" noGrp="1"/>
          </p:cNvSpPr>
          <p:nvPr/>
        </p:nvSpPr>
        <p:spPr>
          <a:xfrm xmlns:a="http://schemas.openxmlformats.org/drawingml/2006/main">
            <a:off x="2943225" y="28956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Coach methodology and MORE help examine possible futures.</a:t>
            </a:r>
          </a:p>
        </p:txBody>
      </p:sp>
      <p:sp>
        <p:nvSpPr>
          <p:cNvPr id="10" name="">
            <a:extLst xmlns:a="http://schemas.openxmlformats.org/drawingml/2006/main">
              <a:ext uri="{FF2B5EF4-FFF2-40B4-BE49-F238E27FC236}">
                <a16:creationId xmlns:a16="http://schemas.microsoft.com/office/drawing/2014/main" id="{4C4227B7-2DCB-41DD-BB6D-77AD308E5ADD}"/>
              </a:ext>
            </a:extLst>
          </p:cNvPr>
          <p:cNvSpPr>
            <a:spLocks xmlns:a="http://schemas.openxmlformats.org/drawingml/2006/main" noGrp="1"/>
          </p:cNvSpPr>
          <p:nvPr/>
        </p:nvSpPr>
        <p:spPr>
          <a:xfrm xmlns:a="http://schemas.openxmlformats.org/drawingml/2006/main">
            <a:off x="609600" y="38290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AGREE + ATTEMPT</a:t>
            </a:r>
          </a:p>
        </p:txBody>
      </p:sp>
      <p:sp>
        <p:nvSpPr>
          <p:cNvPr id="11" name="">
            <a:extLst xmlns:a="http://schemas.openxmlformats.org/drawingml/2006/main">
              <a:ext uri="{FF2B5EF4-FFF2-40B4-BE49-F238E27FC236}">
                <a16:creationId xmlns:a16="http://schemas.microsoft.com/office/drawing/2014/main" id="{2192F635-2591-4291-9238-CCD66E845CB6}"/>
              </a:ext>
            </a:extLst>
          </p:cNvPr>
          <p:cNvSpPr>
            <a:spLocks xmlns:a="http://schemas.openxmlformats.org/drawingml/2006/main" noGrp="1"/>
          </p:cNvSpPr>
          <p:nvPr/>
        </p:nvSpPr>
        <p:spPr>
          <a:xfrm xmlns:a="http://schemas.openxmlformats.org/drawingml/2006/main">
            <a:off x="2943225" y="38290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Athlete and coach choose one move, then try it.</a:t>
            </a:r>
          </a:p>
        </p:txBody>
      </p:sp>
      <p:sp>
        <p:nvSpPr>
          <p:cNvPr id="12" name="">
            <a:extLst xmlns:a="http://schemas.openxmlformats.org/drawingml/2006/main">
              <a:ext uri="{FF2B5EF4-FFF2-40B4-BE49-F238E27FC236}">
                <a16:creationId xmlns:a16="http://schemas.microsoft.com/office/drawing/2014/main" id="{DBC3CFAE-F3BD-4883-9A18-DF6ADE3EB932}"/>
              </a:ext>
            </a:extLst>
          </p:cNvPr>
          <p:cNvSpPr>
            <a:spLocks xmlns:a="http://schemas.openxmlformats.org/drawingml/2006/main" noGrp="1"/>
          </p:cNvSpPr>
          <p:nvPr/>
        </p:nvSpPr>
        <p:spPr>
          <a:xfrm xmlns:a="http://schemas.openxmlformats.org/drawingml/2006/main">
            <a:off x="609600" y="47625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RETURN + REVISE</a:t>
            </a:r>
          </a:p>
        </p:txBody>
      </p:sp>
      <p:sp>
        <p:nvSpPr>
          <p:cNvPr id="13" name="">
            <a:extLst xmlns:a="http://schemas.openxmlformats.org/drawingml/2006/main">
              <a:ext uri="{FF2B5EF4-FFF2-40B4-BE49-F238E27FC236}">
                <a16:creationId xmlns:a16="http://schemas.microsoft.com/office/drawing/2014/main" id="{6B191CA4-0F9C-4DF9-A57A-79AA801D4563}"/>
              </a:ext>
            </a:extLst>
          </p:cNvPr>
          <p:cNvSpPr>
            <a:spLocks xmlns:a="http://schemas.openxmlformats.org/drawingml/2006/main" noGrp="1"/>
          </p:cNvSpPr>
          <p:nvPr/>
        </p:nvSpPr>
        <p:spPr>
          <a:xfrm xmlns:a="http://schemas.openxmlformats.org/drawingml/2006/main">
            <a:off x="2943225" y="47625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Record what happened, correct the understanding, adjust the plan.</a:t>
            </a:r>
          </a:p>
        </p:txBody>
      </p:sp>
      <p:sp>
        <p:nvSpPr>
          <p:cNvPr id="14" name="">
            <a:extLst xmlns:a="http://schemas.openxmlformats.org/drawingml/2006/main">
              <a:ext uri="{FF2B5EF4-FFF2-40B4-BE49-F238E27FC236}">
                <a16:creationId xmlns:a16="http://schemas.microsoft.com/office/drawing/2014/main" id="{0E3ACE08-40E5-4FA8-B073-540D6D204147}"/>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The next conversation begins with the last agreement.</a:t>
            </a:r>
          </a:p>
        </p:txBody>
      </p:sp>
    </p:spTree>
    <p:extLst>
      <p:ext uri="{BB962C8B-B14F-4D97-AF65-F5344CB8AC3E}">
        <p14:creationId xmlns:p14="http://schemas.microsoft.com/office/powerpoint/2010/main" val="1772406991"/>
      </p:ext>
    </p:extLst>
  </p:cSld>
</p:sld>
</file>

<file path=ppt/slides/slide6.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86E109-F68E-4051-B532-45E9C7DF9EC5}"/>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01  LAUNCHPAD</a:t>
            </a:r>
          </a:p>
        </p:txBody>
      </p:sp>
      <p:sp>
        <p:nvSpPr>
          <p:cNvPr id="2" name="">
            <a:extLst xmlns:a="http://schemas.openxmlformats.org/drawingml/2006/main">
              <a:ext uri="{FF2B5EF4-FFF2-40B4-BE49-F238E27FC236}">
                <a16:creationId xmlns:a16="http://schemas.microsoft.com/office/drawing/2014/main" id="{5BC31A78-78FB-4D67-912C-DE721B061919}"/>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BF84A72A-FBDB-4F3B-8221-C00F0C5CA0AA}"/>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2E90F31E-DE49-4E60-AC79-2F540CC369AD}"/>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One academy proves that MORE helps development.</a:t>
            </a:r>
          </a:p>
        </p:txBody>
      </p:sp>
      <p:sp>
        <p:nvSpPr>
          <p:cNvPr id="5" name="">
            <a:extLst xmlns:a="http://schemas.openxmlformats.org/drawingml/2006/main">
              <a:ext uri="{FF2B5EF4-FFF2-40B4-BE49-F238E27FC236}">
                <a16:creationId xmlns:a16="http://schemas.microsoft.com/office/drawing/2014/main" id="{CAB184F3-56FA-48A6-A5FA-9C37A9102D60}"/>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E7C05230-92D6-46C8-8AAB-7CD2BD102B98}"/>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One academy or defined program, potentially Beyond Sports.</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Athletes and coaches use it. Lisa shapes her own methodology.</a:t>
            </a:r>
          </a:p>
        </p:txBody>
      </p:sp>
      <p:sp>
        <p:nvSpPr>
          <p:cNvPr id="7" name="">
            <a:extLst xmlns:a="http://schemas.openxmlformats.org/drawingml/2006/main">
              <a:ext uri="{FF2B5EF4-FFF2-40B4-BE49-F238E27FC236}">
                <a16:creationId xmlns:a16="http://schemas.microsoft.com/office/drawing/2014/main" id="{7A94296B-6B4D-4A2C-B1D4-F9488C26B885}"/>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E87A4491-AE8B-4079-BA50-3FAE10E52CEE}"/>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Goals, current reality, agreed work, attempts, outcomes and corrections.</a:t>
            </a:r>
          </a:p>
        </p:txBody>
      </p:sp>
      <p:sp>
        <p:nvSpPr>
          <p:cNvPr id="9" name="">
            <a:extLst xmlns:a="http://schemas.openxmlformats.org/drawingml/2006/main">
              <a:ext uri="{FF2B5EF4-FFF2-40B4-BE49-F238E27FC236}">
                <a16:creationId xmlns:a16="http://schemas.microsoft.com/office/drawing/2014/main" id="{CDCAD5AB-329E-41E4-92C9-0FB5AFD158A9}"/>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71F84A4E-9FD5-4CB7-A652-C0CF00F9B601}"/>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Repeated usefulness, accurate plans, manageable coach effort and paid continuation.</a:t>
            </a:r>
          </a:p>
        </p:txBody>
      </p:sp>
    </p:spTree>
    <p:extLst>
      <p:ext uri="{BB962C8B-B14F-4D97-AF65-F5344CB8AC3E}">
        <p14:creationId xmlns:p14="http://schemas.microsoft.com/office/powerpoint/2010/main" val="566147509"/>
      </p:ext>
    </p:extLst>
  </p:cSld>
</p:sld>
</file>

<file path=ppt/slides/slide7.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8398A6-63DF-4DBE-9FF7-FA5A21F9ABDB}"/>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What LAUNCHPAD must demonstrate</a:t>
            </a:r>
          </a:p>
        </p:txBody>
      </p:sp>
      <p:sp>
        <p:nvSpPr>
          <p:cNvPr id="2" name="">
            <a:extLst xmlns:a="http://schemas.openxmlformats.org/drawingml/2006/main">
              <a:ext uri="{FF2B5EF4-FFF2-40B4-BE49-F238E27FC236}">
                <a16:creationId xmlns:a16="http://schemas.microsoft.com/office/drawing/2014/main" id="{785A3F03-100E-42B8-AFF4-47E59ED88B99}"/>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4E18996E-B2AA-4629-8930-7BB0DABA001B}"/>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F166940-5AC9-4901-9A6B-8CDFADC736AA}"/>
              </a:ext>
            </a:extLst>
          </p:cNvPr>
          <p:cNvSpPr>
            <a:spLocks xmlns:a="http://schemas.openxmlformats.org/drawingml/2006/main" noGrp="1"/>
          </p:cNvSpPr>
          <p:nvPr/>
        </p:nvSpPr>
        <p:spPr>
          <a:xfrm xmlns:a="http://schemas.openxmlformats.org/drawingml/2006/main">
            <a:off x="609600" y="19050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ATHLETE VALUE</a:t>
            </a:r>
          </a:p>
        </p:txBody>
      </p:sp>
      <p:sp>
        <p:nvSpPr>
          <p:cNvPr id="5" name="">
            <a:extLst xmlns:a="http://schemas.openxmlformats.org/drawingml/2006/main">
              <a:ext uri="{FF2B5EF4-FFF2-40B4-BE49-F238E27FC236}">
                <a16:creationId xmlns:a16="http://schemas.microsoft.com/office/drawing/2014/main" id="{2D60057C-0E72-467B-A924-C4C17619A88E}"/>
              </a:ext>
            </a:extLst>
          </p:cNvPr>
          <p:cNvSpPr>
            <a:spLocks xmlns:a="http://schemas.openxmlformats.org/drawingml/2006/main" noGrp="1"/>
          </p:cNvSpPr>
          <p:nvPr/>
        </p:nvSpPr>
        <p:spPr>
          <a:xfrm xmlns:a="http://schemas.openxmlformats.org/drawingml/2006/main">
            <a:off x="2943225" y="19050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athlete understands the next step and returns for useful help.</a:t>
            </a:r>
          </a:p>
        </p:txBody>
      </p:sp>
      <p:sp>
        <p:nvSpPr>
          <p:cNvPr id="6" name="">
            <a:extLst xmlns:a="http://schemas.openxmlformats.org/drawingml/2006/main">
              <a:ext uri="{FF2B5EF4-FFF2-40B4-BE49-F238E27FC236}">
                <a16:creationId xmlns:a16="http://schemas.microsoft.com/office/drawing/2014/main" id="{AD8C140D-FE9F-4391-B407-5F5382D7B51D}"/>
              </a:ext>
            </a:extLst>
          </p:cNvPr>
          <p:cNvSpPr>
            <a:spLocks xmlns:a="http://schemas.openxmlformats.org/drawingml/2006/main" noGrp="1"/>
          </p:cNvSpPr>
          <p:nvPr/>
        </p:nvSpPr>
        <p:spPr>
          <a:xfrm xmlns:a="http://schemas.openxmlformats.org/drawingml/2006/main">
            <a:off x="609600" y="28765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COACH VALUE</a:t>
            </a:r>
          </a:p>
        </p:txBody>
      </p:sp>
      <p:sp>
        <p:nvSpPr>
          <p:cNvPr id="7" name="">
            <a:extLst xmlns:a="http://schemas.openxmlformats.org/drawingml/2006/main">
              <a:ext uri="{FF2B5EF4-FFF2-40B4-BE49-F238E27FC236}">
                <a16:creationId xmlns:a16="http://schemas.microsoft.com/office/drawing/2014/main" id="{0331C5A8-7637-47DA-9095-2BD1B6DC8BD9}"/>
              </a:ext>
            </a:extLst>
          </p:cNvPr>
          <p:cNvSpPr>
            <a:spLocks xmlns:a="http://schemas.openxmlformats.org/drawingml/2006/main" noGrp="1"/>
          </p:cNvSpPr>
          <p:nvPr/>
        </p:nvSpPr>
        <p:spPr>
          <a:xfrm xmlns:a="http://schemas.openxmlformats.org/drawingml/2006/main">
            <a:off x="2943225" y="28765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conversation improves without adding a recordkeeping job.</a:t>
            </a:r>
          </a:p>
        </p:txBody>
      </p:sp>
      <p:sp>
        <p:nvSpPr>
          <p:cNvPr id="8" name="">
            <a:extLst xmlns:a="http://schemas.openxmlformats.org/drawingml/2006/main">
              <a:ext uri="{FF2B5EF4-FFF2-40B4-BE49-F238E27FC236}">
                <a16:creationId xmlns:a16="http://schemas.microsoft.com/office/drawing/2014/main" id="{7D3A86CD-31D8-4D8C-B93B-E4127188353F}"/>
              </a:ext>
            </a:extLst>
          </p:cNvPr>
          <p:cNvSpPr>
            <a:spLocks xmlns:a="http://schemas.openxmlformats.org/drawingml/2006/main" noGrp="1"/>
          </p:cNvSpPr>
          <p:nvPr/>
        </p:nvSpPr>
        <p:spPr>
          <a:xfrm xmlns:a="http://schemas.openxmlformats.org/drawingml/2006/main">
            <a:off x="609600" y="3848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RECORD QUALITY</a:t>
            </a:r>
          </a:p>
        </p:txBody>
      </p:sp>
      <p:sp>
        <p:nvSpPr>
          <p:cNvPr id="9" name="">
            <a:extLst xmlns:a="http://schemas.openxmlformats.org/drawingml/2006/main">
              <a:ext uri="{FF2B5EF4-FFF2-40B4-BE49-F238E27FC236}">
                <a16:creationId xmlns:a16="http://schemas.microsoft.com/office/drawing/2014/main" id="{2A893820-49B4-4204-84AD-A94CAD420F67}"/>
              </a:ext>
            </a:extLst>
          </p:cNvPr>
          <p:cNvSpPr>
            <a:spLocks xmlns:a="http://schemas.openxmlformats.org/drawingml/2006/main" noGrp="1"/>
          </p:cNvSpPr>
          <p:nvPr/>
        </p:nvSpPr>
        <p:spPr>
          <a:xfrm xmlns:a="http://schemas.openxmlformats.org/drawingml/2006/main">
            <a:off x="2943225" y="3848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agreed plan stays accurate when people disagree or correct it.</a:t>
            </a:r>
          </a:p>
        </p:txBody>
      </p:sp>
      <p:sp>
        <p:nvSpPr>
          <p:cNvPr id="10" name="">
            <a:extLst xmlns:a="http://schemas.openxmlformats.org/drawingml/2006/main">
              <a:ext uri="{FF2B5EF4-FFF2-40B4-BE49-F238E27FC236}">
                <a16:creationId xmlns:a16="http://schemas.microsoft.com/office/drawing/2014/main" id="{982FC40E-F2B6-45FE-A34B-151FA4E670FD}"/>
              </a:ext>
            </a:extLst>
          </p:cNvPr>
          <p:cNvSpPr>
            <a:spLocks xmlns:a="http://schemas.openxmlformats.org/drawingml/2006/main" noGrp="1"/>
          </p:cNvSpPr>
          <p:nvPr/>
        </p:nvSpPr>
        <p:spPr>
          <a:xfrm xmlns:a="http://schemas.openxmlformats.org/drawingml/2006/main">
            <a:off x="609600" y="48196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VALUE</a:t>
            </a:r>
          </a:p>
        </p:txBody>
      </p:sp>
      <p:sp>
        <p:nvSpPr>
          <p:cNvPr id="11" name="">
            <a:extLst xmlns:a="http://schemas.openxmlformats.org/drawingml/2006/main">
              <a:ext uri="{FF2B5EF4-FFF2-40B4-BE49-F238E27FC236}">
                <a16:creationId xmlns:a16="http://schemas.microsoft.com/office/drawing/2014/main" id="{2CD782B8-96B8-4559-B6E2-420DFB5CB7C9}"/>
              </a:ext>
            </a:extLst>
          </p:cNvPr>
          <p:cNvSpPr>
            <a:spLocks xmlns:a="http://schemas.openxmlformats.org/drawingml/2006/main" noGrp="1"/>
          </p:cNvSpPr>
          <p:nvPr/>
        </p:nvSpPr>
        <p:spPr>
          <a:xfrm xmlns:a="http://schemas.openxmlformats.org/drawingml/2006/main">
            <a:off x="2943225" y="48196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academy can explain the benefit and chooses to continue paying.</a:t>
            </a:r>
          </a:p>
        </p:txBody>
      </p:sp>
      <p:sp>
        <p:nvSpPr>
          <p:cNvPr id="12" name="">
            <a:extLst xmlns:a="http://schemas.openxmlformats.org/drawingml/2006/main">
              <a:ext uri="{FF2B5EF4-FFF2-40B4-BE49-F238E27FC236}">
                <a16:creationId xmlns:a16="http://schemas.microsoft.com/office/drawing/2014/main" id="{59AE7CD8-742B-43F9-BADA-3528FCD5D00E}"/>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Agree on the measures before the first development cycle.</a:t>
            </a:r>
          </a:p>
        </p:txBody>
      </p:sp>
    </p:spTree>
    <p:extLst>
      <p:ext uri="{BB962C8B-B14F-4D97-AF65-F5344CB8AC3E}">
        <p14:creationId xmlns:p14="http://schemas.microsoft.com/office/powerpoint/2010/main" val="37214356"/>
      </p:ext>
    </p:extLst>
  </p:cSld>
</p:sld>
</file>

<file path=ppt/slides/slide8.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195783-64A2-42C1-A624-39ABA5EC591A}"/>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02  PLAYBOOK</a:t>
            </a:r>
          </a:p>
        </p:txBody>
      </p:sp>
      <p:sp>
        <p:nvSpPr>
          <p:cNvPr id="2" name="">
            <a:extLst xmlns:a="http://schemas.openxmlformats.org/drawingml/2006/main">
              <a:ext uri="{FF2B5EF4-FFF2-40B4-BE49-F238E27FC236}">
                <a16:creationId xmlns:a16="http://schemas.microsoft.com/office/drawing/2014/main" id="{2F6B478F-7679-44CB-8FED-7E2F58A7DAC9}"/>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42F5CE0D-8459-4DAD-875C-CA5DD13DDDB5}"/>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EEC5E49C-AB4D-4845-825C-C01E76A35717}"/>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Other academies can use the same core experience.</a:t>
            </a:r>
          </a:p>
        </p:txBody>
      </p:sp>
      <p:sp>
        <p:nvSpPr>
          <p:cNvPr id="5" name="">
            <a:extLst xmlns:a="http://schemas.openxmlformats.org/drawingml/2006/main">
              <a:ext uri="{FF2B5EF4-FFF2-40B4-BE49-F238E27FC236}">
                <a16:creationId xmlns:a16="http://schemas.microsoft.com/office/drawing/2014/main" id="{E5459940-EFBC-4F53-A92D-675D4C877648}"/>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408C26A3-7D25-402B-A28A-9D829818E73E}"/>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Two to four additional academies or competitive clubs.</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Ordinary coaches and athletes, with their own director.</a:t>
            </a:r>
          </a:p>
        </p:txBody>
      </p:sp>
      <p:sp>
        <p:nvSpPr>
          <p:cNvPr id="7" name="">
            <a:extLst xmlns:a="http://schemas.openxmlformats.org/drawingml/2006/main">
              <a:ext uri="{FF2B5EF4-FFF2-40B4-BE49-F238E27FC236}">
                <a16:creationId xmlns:a16="http://schemas.microsoft.com/office/drawing/2014/main" id="{04605A8D-8957-416F-B0E0-83613D0E35A6}"/>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ADF9F5BE-C04F-4E9E-9874-9C2136C0E444}"/>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Reusable setup, approved methods, onboarding lessons and delivery costs.</a:t>
            </a:r>
          </a:p>
        </p:txBody>
      </p:sp>
      <p:sp>
        <p:nvSpPr>
          <p:cNvPr id="9" name="">
            <a:extLst xmlns:a="http://schemas.openxmlformats.org/drawingml/2006/main">
              <a:ext uri="{FF2B5EF4-FFF2-40B4-BE49-F238E27FC236}">
                <a16:creationId xmlns:a16="http://schemas.microsoft.com/office/drawing/2014/main" id="{E8648EF7-266E-41D0-82E7-77F75C351D01}"/>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0561D654-082F-46AD-88B8-D861458FCFD1}"/>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Independent buyers renew without custom rebuilds or constant founder support.</a:t>
            </a:r>
          </a:p>
        </p:txBody>
      </p:sp>
    </p:spTree>
    <p:extLst>
      <p:ext uri="{BB962C8B-B14F-4D97-AF65-F5344CB8AC3E}">
        <p14:creationId xmlns:p14="http://schemas.microsoft.com/office/powerpoint/2010/main" val="1246666962"/>
      </p:ext>
    </p:extLst>
  </p:cSld>
</p:sld>
</file>

<file path=ppt/slides/slide9.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B69AEE-FB98-4365-A61C-187D78AE5B71}"/>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What repeats, and what varies</a:t>
            </a:r>
          </a:p>
        </p:txBody>
      </p:sp>
      <p:sp>
        <p:nvSpPr>
          <p:cNvPr id="2" name="">
            <a:extLst xmlns:a="http://schemas.openxmlformats.org/drawingml/2006/main">
              <a:ext uri="{FF2B5EF4-FFF2-40B4-BE49-F238E27FC236}">
                <a16:creationId xmlns:a16="http://schemas.microsoft.com/office/drawing/2014/main" id="{DC8926FE-936F-4EFD-9916-C25363093DDC}"/>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C828D2BA-2C5F-4B99-943F-695330368BD6}"/>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45B4500-901F-429F-A523-17ADACC5E0B6}"/>
              </a:ext>
            </a:extLst>
          </p:cNvPr>
          <p:cNvSpPr>
            <a:spLocks xmlns:a="http://schemas.openxmlformats.org/drawingml/2006/main" noGrp="1"/>
          </p:cNvSpPr>
          <p:nvPr/>
        </p:nvSpPr>
        <p:spPr>
          <a:xfrm xmlns:a="http://schemas.openxmlformats.org/drawingml/2006/main">
            <a:off x="609600" y="1952625"/>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SAME MORE FOUNDATION</a:t>
            </a:r>
          </a:p>
        </p:txBody>
      </p:sp>
      <p:sp>
        <p:nvSpPr>
          <p:cNvPr id="5" name="">
            <a:extLst xmlns:a="http://schemas.openxmlformats.org/drawingml/2006/main">
              <a:ext uri="{FF2B5EF4-FFF2-40B4-BE49-F238E27FC236}">
                <a16:creationId xmlns:a16="http://schemas.microsoft.com/office/drawing/2014/main" id="{7A160B6B-7629-4655-8A30-42D074818FBA}"/>
              </a:ext>
            </a:extLst>
          </p:cNvPr>
          <p:cNvSpPr>
            <a:spLocks xmlns:a="http://schemas.openxmlformats.org/drawingml/2006/main" noGrp="1"/>
          </p:cNvSpPr>
          <p:nvPr/>
        </p:nvSpPr>
        <p:spPr>
          <a:xfrm xmlns:a="http://schemas.openxmlformats.org/drawingml/2006/main">
            <a:off x="609600" y="2914650"/>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Development loop</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Evidence and corrections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Permission rules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Continuing record</a:t>
            </a:r>
          </a:p>
        </p:txBody>
      </p:sp>
      <p:sp>
        <p:nvSpPr>
          <p:cNvPr id="6" name="">
            <a:extLst xmlns:a="http://schemas.openxmlformats.org/drawingml/2006/main">
              <a:ext uri="{FF2B5EF4-FFF2-40B4-BE49-F238E27FC236}">
                <a16:creationId xmlns:a16="http://schemas.microsoft.com/office/drawing/2014/main" id="{4411985B-363F-4D08-BC16-B19F924055C1}"/>
              </a:ext>
            </a:extLst>
          </p:cNvPr>
          <p:cNvSpPr>
            <a:spLocks xmlns:a="http://schemas.openxmlformats.org/drawingml/2006/main" noGrp="1"/>
          </p:cNvSpPr>
          <p:nvPr/>
        </p:nvSpPr>
        <p:spPr>
          <a:xfrm xmlns:a="http://schemas.openxmlformats.org/drawingml/2006/main">
            <a:off x="6096000" y="1952625"/>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EACH ACADEMY’S CONTEXT</a:t>
            </a:r>
          </a:p>
        </p:txBody>
      </p:sp>
      <p:sp>
        <p:nvSpPr>
          <p:cNvPr id="7" name="">
            <a:extLst xmlns:a="http://schemas.openxmlformats.org/drawingml/2006/main">
              <a:ext uri="{FF2B5EF4-FFF2-40B4-BE49-F238E27FC236}">
                <a16:creationId xmlns:a16="http://schemas.microsoft.com/office/drawing/2014/main" id="{2EC54C4B-9CAB-47E2-A8C6-220AFDB5396F}"/>
              </a:ext>
            </a:extLst>
          </p:cNvPr>
          <p:cNvSpPr>
            <a:spLocks xmlns:a="http://schemas.openxmlformats.org/drawingml/2006/main" noGrp="1"/>
          </p:cNvSpPr>
          <p:nvPr/>
        </p:nvSpPr>
        <p:spPr>
          <a:xfrm xmlns:a="http://schemas.openxmlformats.org/drawingml/2006/main">
            <a:off x="6096000" y="2914650"/>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Coaching methodology</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Sport and age group</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Staff responsibilities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Program goals</a:t>
            </a:r>
          </a:p>
        </p:txBody>
      </p:sp>
      <p:sp>
        <p:nvSpPr>
          <p:cNvPr id="8" name="">
            <a:extLst xmlns:a="http://schemas.openxmlformats.org/drawingml/2006/main">
              <a:ext uri="{FF2B5EF4-FFF2-40B4-BE49-F238E27FC236}">
                <a16:creationId xmlns:a16="http://schemas.microsoft.com/office/drawing/2014/main" id="{60E4001A-83A1-4D47-A494-FA9E435E474B}"/>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A new academy configures the product without rebuilding it.</a:t>
            </a:r>
          </a:p>
        </p:txBody>
      </p:sp>
    </p:spTree>
    <p:extLst>
      <p:ext uri="{BB962C8B-B14F-4D97-AF65-F5344CB8AC3E}">
        <p14:creationId xmlns:p14="http://schemas.microsoft.com/office/powerpoint/2010/main" val="768634826"/>
      </p:ext>
    </p:extLst>
  </p:cSld>
</p:sld>
</file>

<file path=ppt/slides/slide10.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D41465-9A8A-4E7C-807A-A143DD0911F8}"/>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03  ACADEMY OS</a:t>
            </a:r>
          </a:p>
        </p:txBody>
      </p:sp>
      <p:sp>
        <p:nvSpPr>
          <p:cNvPr id="2" name="">
            <a:extLst xmlns:a="http://schemas.openxmlformats.org/drawingml/2006/main">
              <a:ext uri="{FF2B5EF4-FFF2-40B4-BE49-F238E27FC236}">
                <a16:creationId xmlns:a16="http://schemas.microsoft.com/office/drawing/2014/main" id="{935036DB-BB5E-476E-BB58-E1BF9B963610}"/>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BA6CC545-D83C-4BA2-813E-9CD3005C6E67}"/>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07D37824-B0F9-4DC6-A53F-0721F60B69E5}"/>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The academy runs its development work through MORE.</a:t>
            </a:r>
          </a:p>
        </p:txBody>
      </p:sp>
      <p:sp>
        <p:nvSpPr>
          <p:cNvPr id="5" name="">
            <a:extLst xmlns:a="http://schemas.openxmlformats.org/drawingml/2006/main">
              <a:ext uri="{FF2B5EF4-FFF2-40B4-BE49-F238E27FC236}">
                <a16:creationId xmlns:a16="http://schemas.microsoft.com/office/drawing/2014/main" id="{5DD98DF2-5303-47FA-B77E-F99633A27E34}"/>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3A7FE8B3-64A8-473E-A1D9-1B544E428C2D}"/>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Academy leadership, larger clubs or multi-site operators.</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Directors and assigned staff support athletes and coaches.</a:t>
            </a:r>
          </a:p>
        </p:txBody>
      </p:sp>
      <p:sp>
        <p:nvSpPr>
          <p:cNvPr id="7" name="">
            <a:extLst xmlns:a="http://schemas.openxmlformats.org/drawingml/2006/main">
              <a:ext uri="{FF2B5EF4-FFF2-40B4-BE49-F238E27FC236}">
                <a16:creationId xmlns:a16="http://schemas.microsoft.com/office/drawing/2014/main" id="{5424F4ED-C953-40E4-8F80-2D5AA5D8620A}"/>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AEA824FD-7931-4717-8033-4C657FCA902B}"/>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Coach assignments, review status, shared commitments and program history.</a:t>
            </a:r>
          </a:p>
        </p:txBody>
      </p:sp>
      <p:sp>
        <p:nvSpPr>
          <p:cNvPr id="9" name="">
            <a:extLst xmlns:a="http://schemas.openxmlformats.org/drawingml/2006/main">
              <a:ext uri="{FF2B5EF4-FFF2-40B4-BE49-F238E27FC236}">
                <a16:creationId xmlns:a16="http://schemas.microsoft.com/office/drawing/2014/main" id="{D11455C3-2457-4D3A-9D9E-01A55BA70D4F}"/>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C1FE5ED1-49BF-4BD2-82A4-9B6947D1A826}"/>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Leadership uses it in recurring reviews and renews for measurable program value.</a:t>
            </a:r>
          </a:p>
        </p:txBody>
      </p:sp>
    </p:spTree>
    <p:extLst>
      <p:ext uri="{BB962C8B-B14F-4D97-AF65-F5344CB8AC3E}">
        <p14:creationId xmlns:p14="http://schemas.microsoft.com/office/powerpoint/2010/main" val="634652036"/>
      </p:ext>
    </p:extLst>
  </p:cSld>
</p:sld>
</file>

<file path=ppt/slides/slide11.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E41193-24D6-4429-9ECC-F81A00C06158}"/>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academy’s working view</a:t>
            </a:r>
          </a:p>
        </p:txBody>
      </p:sp>
      <p:sp>
        <p:nvSpPr>
          <p:cNvPr id="2" name="">
            <a:extLst xmlns:a="http://schemas.openxmlformats.org/drawingml/2006/main">
              <a:ext uri="{FF2B5EF4-FFF2-40B4-BE49-F238E27FC236}">
                <a16:creationId xmlns:a16="http://schemas.microsoft.com/office/drawing/2014/main" id="{8BB96E0B-B8A2-4F33-AAEE-CF88699777E5}"/>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34BCB80A-D075-4FD2-B606-98F52E8CA6BB}"/>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D359827-10C6-42E5-866A-378AEDBCA6D5}"/>
              </a:ext>
            </a:extLst>
          </p:cNvPr>
          <p:cNvSpPr>
            <a:spLocks xmlns:a="http://schemas.openxmlformats.org/drawingml/2006/main" noGrp="1"/>
          </p:cNvSpPr>
          <p:nvPr/>
        </p:nvSpPr>
        <p:spPr>
          <a:xfrm xmlns:a="http://schemas.openxmlformats.org/drawingml/2006/main">
            <a:off x="609600" y="19907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WHAT IS ACTIVE?</a:t>
            </a:r>
          </a:p>
        </p:txBody>
      </p:sp>
      <p:sp>
        <p:nvSpPr>
          <p:cNvPr id="5" name="">
            <a:extLst xmlns:a="http://schemas.openxmlformats.org/drawingml/2006/main">
              <a:ext uri="{FF2B5EF4-FFF2-40B4-BE49-F238E27FC236}">
                <a16:creationId xmlns:a16="http://schemas.microsoft.com/office/drawing/2014/main" id="{6DE9E7EA-F1D8-4A52-BF20-0A154414C7EA}"/>
              </a:ext>
            </a:extLst>
          </p:cNvPr>
          <p:cNvSpPr>
            <a:spLocks xmlns:a="http://schemas.openxmlformats.org/drawingml/2006/main" noGrp="1"/>
          </p:cNvSpPr>
          <p:nvPr/>
        </p:nvSpPr>
        <p:spPr>
          <a:xfrm xmlns:a="http://schemas.openxmlformats.org/drawingml/2006/main">
            <a:off x="2943225" y="19907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Who is working on what, with which coach, and by when?</a:t>
            </a:r>
          </a:p>
        </p:txBody>
      </p:sp>
      <p:sp>
        <p:nvSpPr>
          <p:cNvPr id="6" name="">
            <a:extLst xmlns:a="http://schemas.openxmlformats.org/drawingml/2006/main">
              <a:ext uri="{FF2B5EF4-FFF2-40B4-BE49-F238E27FC236}">
                <a16:creationId xmlns:a16="http://schemas.microsoft.com/office/drawing/2014/main" id="{B49F482D-ECEC-4C39-82D2-D520B617C6C5}"/>
              </a:ext>
            </a:extLst>
          </p:cNvPr>
          <p:cNvSpPr>
            <a:spLocks xmlns:a="http://schemas.openxmlformats.org/drawingml/2006/main" noGrp="1"/>
          </p:cNvSpPr>
          <p:nvPr/>
        </p:nvSpPr>
        <p:spPr>
          <a:xfrm xmlns:a="http://schemas.openxmlformats.org/drawingml/2006/main">
            <a:off x="609600" y="29718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WHAT CHANGED?</a:t>
            </a:r>
          </a:p>
        </p:txBody>
      </p:sp>
      <p:sp>
        <p:nvSpPr>
          <p:cNvPr id="7" name="">
            <a:extLst xmlns:a="http://schemas.openxmlformats.org/drawingml/2006/main">
              <a:ext uri="{FF2B5EF4-FFF2-40B4-BE49-F238E27FC236}">
                <a16:creationId xmlns:a16="http://schemas.microsoft.com/office/drawing/2014/main" id="{4EB6DC4C-D9C2-445F-B03B-E66FE9CE1FAF}"/>
              </a:ext>
            </a:extLst>
          </p:cNvPr>
          <p:cNvSpPr>
            <a:spLocks xmlns:a="http://schemas.openxmlformats.org/drawingml/2006/main" noGrp="1"/>
          </p:cNvSpPr>
          <p:nvPr/>
        </p:nvSpPr>
        <p:spPr>
          <a:xfrm xmlns:a="http://schemas.openxmlformats.org/drawingml/2006/main">
            <a:off x="2943225" y="29718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Which attempts, outcomes or corrections need a review?</a:t>
            </a:r>
          </a:p>
        </p:txBody>
      </p:sp>
      <p:sp>
        <p:nvSpPr>
          <p:cNvPr id="8" name="">
            <a:extLst xmlns:a="http://schemas.openxmlformats.org/drawingml/2006/main">
              <a:ext uri="{FF2B5EF4-FFF2-40B4-BE49-F238E27FC236}">
                <a16:creationId xmlns:a16="http://schemas.microsoft.com/office/drawing/2014/main" id="{0CED3830-102D-4F19-9A70-C99522E219CA}"/>
              </a:ext>
            </a:extLst>
          </p:cNvPr>
          <p:cNvSpPr>
            <a:spLocks xmlns:a="http://schemas.openxmlformats.org/drawingml/2006/main" noGrp="1"/>
          </p:cNvSpPr>
          <p:nvPr/>
        </p:nvSpPr>
        <p:spPr>
          <a:xfrm xmlns:a="http://schemas.openxmlformats.org/drawingml/2006/main">
            <a:off x="609600" y="39528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WHERE DO VIEWS DIFFER?</a:t>
            </a:r>
          </a:p>
        </p:txBody>
      </p:sp>
      <p:sp>
        <p:nvSpPr>
          <p:cNvPr id="9" name="">
            <a:extLst xmlns:a="http://schemas.openxmlformats.org/drawingml/2006/main">
              <a:ext uri="{FF2B5EF4-FFF2-40B4-BE49-F238E27FC236}">
                <a16:creationId xmlns:a16="http://schemas.microsoft.com/office/drawing/2014/main" id="{62C8EAA0-681F-4BC1-97FD-F8163AEF7BCA}"/>
              </a:ext>
            </a:extLst>
          </p:cNvPr>
          <p:cNvSpPr>
            <a:spLocks xmlns:a="http://schemas.openxmlformats.org/drawingml/2006/main" noGrp="1"/>
          </p:cNvSpPr>
          <p:nvPr/>
        </p:nvSpPr>
        <p:spPr>
          <a:xfrm xmlns:a="http://schemas.openxmlformats.org/drawingml/2006/main">
            <a:off x="2943225" y="39528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What does the athlete say, and what does the coach observe?</a:t>
            </a:r>
          </a:p>
        </p:txBody>
      </p:sp>
      <p:sp>
        <p:nvSpPr>
          <p:cNvPr id="10" name="">
            <a:extLst xmlns:a="http://schemas.openxmlformats.org/drawingml/2006/main">
              <a:ext uri="{FF2B5EF4-FFF2-40B4-BE49-F238E27FC236}">
                <a16:creationId xmlns:a16="http://schemas.microsoft.com/office/drawing/2014/main" id="{539595AD-B2B3-40A4-814D-9A3DD83C76B4}"/>
              </a:ext>
            </a:extLst>
          </p:cNvPr>
          <p:cNvSpPr>
            <a:spLocks xmlns:a="http://schemas.openxmlformats.org/drawingml/2006/main" noGrp="1"/>
          </p:cNvSpPr>
          <p:nvPr/>
        </p:nvSpPr>
        <p:spPr>
          <a:xfrm xmlns:a="http://schemas.openxmlformats.org/drawingml/2006/main">
            <a:off x="609600" y="4933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WHAT NEEDS ACTION?</a:t>
            </a:r>
          </a:p>
        </p:txBody>
      </p:sp>
      <p:sp>
        <p:nvSpPr>
          <p:cNvPr id="11" name="">
            <a:extLst xmlns:a="http://schemas.openxmlformats.org/drawingml/2006/main">
              <a:ext uri="{FF2B5EF4-FFF2-40B4-BE49-F238E27FC236}">
                <a16:creationId xmlns:a16="http://schemas.microsoft.com/office/drawing/2014/main" id="{35C06A25-D2EB-4339-B12B-05C4A1B9012E}"/>
              </a:ext>
            </a:extLst>
          </p:cNvPr>
          <p:cNvSpPr>
            <a:spLocks xmlns:a="http://schemas.openxmlformats.org/drawingml/2006/main" noGrp="1"/>
          </p:cNvSpPr>
          <p:nvPr/>
        </p:nvSpPr>
        <p:spPr>
          <a:xfrm xmlns:a="http://schemas.openxmlformats.org/drawingml/2006/main">
            <a:off x="2943225" y="4933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Which agreements have gone unreviewed or lost an owner?</a:t>
            </a:r>
          </a:p>
        </p:txBody>
      </p:sp>
      <p:sp>
        <p:nvSpPr>
          <p:cNvPr id="12" name="">
            <a:extLst xmlns:a="http://schemas.openxmlformats.org/drawingml/2006/main">
              <a:ext uri="{FF2B5EF4-FFF2-40B4-BE49-F238E27FC236}">
                <a16:creationId xmlns:a16="http://schemas.microsoft.com/office/drawing/2014/main" id="{65D89114-6D4B-402E-8D36-E1C07F08B768}"/>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Staff see actionable development work with attributable evidence.</a:t>
            </a:r>
          </a:p>
        </p:txBody>
      </p:sp>
    </p:spTree>
    <p:extLst>
      <p:ext uri="{BB962C8B-B14F-4D97-AF65-F5344CB8AC3E}">
        <p14:creationId xmlns:p14="http://schemas.microsoft.com/office/powerpoint/2010/main" val="533050671"/>
      </p:ext>
    </p:extLst>
  </p:cSld>
</p:sld>
</file>

<file path=ppt/slides/slide12.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033376-5586-4ADE-844E-00D0C2511E14}"/>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Own the state, rent the intelligence</a:t>
            </a:r>
          </a:p>
        </p:txBody>
      </p:sp>
      <p:sp>
        <p:nvSpPr>
          <p:cNvPr id="2" name="">
            <a:extLst xmlns:a="http://schemas.openxmlformats.org/drawingml/2006/main">
              <a:ext uri="{FF2B5EF4-FFF2-40B4-BE49-F238E27FC236}">
                <a16:creationId xmlns:a16="http://schemas.microsoft.com/office/drawing/2014/main" id="{5D348664-B172-4599-8DBB-947901556F2C}"/>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DFECBBDD-B12E-476F-84C4-B1952C90C9EC}"/>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8F4FCB0F-8E11-4E19-977A-E0A4590E1797}"/>
              </a:ext>
            </a:extLst>
          </p:cNvPr>
          <p:cNvSpPr>
            <a:spLocks xmlns:a="http://schemas.openxmlformats.org/drawingml/2006/main" noGrp="1"/>
          </p:cNvSpPr>
          <p:nvPr/>
        </p:nvSpPr>
        <p:spPr>
          <a:xfrm xmlns:a="http://schemas.openxmlformats.org/drawingml/2006/main">
            <a:off x="609600" y="1981200"/>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MORE MAINTAINS THE RECORD</a:t>
            </a:r>
          </a:p>
        </p:txBody>
      </p:sp>
      <p:sp>
        <p:nvSpPr>
          <p:cNvPr id="5" name="">
            <a:extLst xmlns:a="http://schemas.openxmlformats.org/drawingml/2006/main">
              <a:ext uri="{FF2B5EF4-FFF2-40B4-BE49-F238E27FC236}">
                <a16:creationId xmlns:a16="http://schemas.microsoft.com/office/drawing/2014/main" id="{EFF219AA-C418-487E-8BA2-08F81CE56FBC}"/>
              </a:ext>
            </a:extLst>
          </p:cNvPr>
          <p:cNvSpPr>
            <a:spLocks xmlns:a="http://schemas.openxmlformats.org/drawingml/2006/main" noGrp="1"/>
          </p:cNvSpPr>
          <p:nvPr/>
        </p:nvSpPr>
        <p:spPr>
          <a:xfrm xmlns:a="http://schemas.openxmlformats.org/drawingml/2006/main">
            <a:off x="609600" y="2943225"/>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Identity and permissions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Goals and accepted plans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Evidence and corrections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Attempt and outcome history</a:t>
            </a:r>
          </a:p>
        </p:txBody>
      </p:sp>
      <p:sp>
        <p:nvSpPr>
          <p:cNvPr id="6" name="">
            <a:extLst xmlns:a="http://schemas.openxmlformats.org/drawingml/2006/main">
              <a:ext uri="{FF2B5EF4-FFF2-40B4-BE49-F238E27FC236}">
                <a16:creationId xmlns:a16="http://schemas.microsoft.com/office/drawing/2014/main" id="{EC0E9FEE-8BFD-4119-9085-AF225AA9994D}"/>
              </a:ext>
            </a:extLst>
          </p:cNvPr>
          <p:cNvSpPr>
            <a:spLocks xmlns:a="http://schemas.openxmlformats.org/drawingml/2006/main" noGrp="1"/>
          </p:cNvSpPr>
          <p:nvPr/>
        </p:nvSpPr>
        <p:spPr>
          <a:xfrm xmlns:a="http://schemas.openxmlformats.org/drawingml/2006/main">
            <a:off x="6096000" y="1981200"/>
            <a:ext cx="512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AI HELPS WITH THE WORK</a:t>
            </a:r>
          </a:p>
        </p:txBody>
      </p:sp>
      <p:sp>
        <p:nvSpPr>
          <p:cNvPr id="7" name="">
            <a:extLst xmlns:a="http://schemas.openxmlformats.org/drawingml/2006/main">
              <a:ext uri="{FF2B5EF4-FFF2-40B4-BE49-F238E27FC236}">
                <a16:creationId xmlns:a16="http://schemas.microsoft.com/office/drawing/2014/main" id="{813C6E09-45E1-48DE-BFA2-83BE8E57FD81}"/>
              </a:ext>
            </a:extLst>
          </p:cNvPr>
          <p:cNvSpPr>
            <a:spLocks xmlns:a="http://schemas.openxmlformats.org/drawingml/2006/main" noGrp="1"/>
          </p:cNvSpPr>
          <p:nvPr/>
        </p:nvSpPr>
        <p:spPr>
          <a:xfrm xmlns:a="http://schemas.openxmlformats.org/drawingml/2006/main">
            <a:off x="6096000" y="2943225"/>
            <a:ext cx="50577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Use permitted context</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Explain possible choices</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Draft a useful next step</a:t>
            </a:r>
          </a:p>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Support the next conversation</a:t>
            </a:r>
          </a:p>
        </p:txBody>
      </p:sp>
      <p:sp>
        <p:nvSpPr>
          <p:cNvPr id="8" name="">
            <a:extLst xmlns:a="http://schemas.openxmlformats.org/drawingml/2006/main">
              <a:ext uri="{FF2B5EF4-FFF2-40B4-BE49-F238E27FC236}">
                <a16:creationId xmlns:a16="http://schemas.microsoft.com/office/drawing/2014/main" id="{064824A9-87B8-404A-9982-8D042FBDF419}"/>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Models can change. The authorized development history continues.</a:t>
            </a:r>
          </a:p>
        </p:txBody>
      </p:sp>
    </p:spTree>
    <p:extLst>
      <p:ext uri="{BB962C8B-B14F-4D97-AF65-F5344CB8AC3E}">
        <p14:creationId xmlns:p14="http://schemas.microsoft.com/office/powerpoint/2010/main" val="627847230"/>
      </p:ext>
    </p:extLst>
  </p:cSld>
</p:sld>
</file>

<file path=ppt/slides/slide13.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0D95A9-2942-4824-BEF3-DFF5375764C9}"/>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How a proposal becomes an agreed plan</a:t>
            </a:r>
          </a:p>
        </p:txBody>
      </p:sp>
      <p:sp>
        <p:nvSpPr>
          <p:cNvPr id="2" name="">
            <a:extLst xmlns:a="http://schemas.openxmlformats.org/drawingml/2006/main">
              <a:ext uri="{FF2B5EF4-FFF2-40B4-BE49-F238E27FC236}">
                <a16:creationId xmlns:a16="http://schemas.microsoft.com/office/drawing/2014/main" id="{42D32918-3E78-43F5-8652-040877AE5C2D}"/>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64840B62-13CD-4290-A1B0-641A5139CADB}"/>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9DF94213-5ABB-4F34-A877-34D6E22CBEA2}"/>
              </a:ext>
            </a:extLst>
          </p:cNvPr>
          <p:cNvSpPr>
            <a:spLocks xmlns:a="http://schemas.openxmlformats.org/drawingml/2006/main" noGrp="1"/>
          </p:cNvSpPr>
          <p:nvPr/>
        </p:nvSpPr>
        <p:spPr>
          <a:xfrm xmlns:a="http://schemas.openxmlformats.org/drawingml/2006/main">
            <a:off x="609600" y="19335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1  CHECK ACCESS</a:t>
            </a:r>
          </a:p>
        </p:txBody>
      </p:sp>
      <p:sp>
        <p:nvSpPr>
          <p:cNvPr id="5" name="">
            <a:extLst xmlns:a="http://schemas.openxmlformats.org/drawingml/2006/main">
              <a:ext uri="{FF2B5EF4-FFF2-40B4-BE49-F238E27FC236}">
                <a16:creationId xmlns:a16="http://schemas.microsoft.com/office/drawing/2014/main" id="{06621018-90CC-4D08-95BD-421A8640BA20}"/>
              </a:ext>
            </a:extLst>
          </p:cNvPr>
          <p:cNvSpPr>
            <a:spLocks xmlns:a="http://schemas.openxmlformats.org/drawingml/2006/main" noGrp="1"/>
          </p:cNvSpPr>
          <p:nvPr/>
        </p:nvSpPr>
        <p:spPr>
          <a:xfrm xmlns:a="http://schemas.openxmlformats.org/drawingml/2006/main">
            <a:off x="2943225" y="19335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Identify the person, role, purpose and permitted record.</a:t>
            </a:r>
          </a:p>
        </p:txBody>
      </p:sp>
      <p:sp>
        <p:nvSpPr>
          <p:cNvPr id="6" name="">
            <a:extLst xmlns:a="http://schemas.openxmlformats.org/drawingml/2006/main">
              <a:ext uri="{FF2B5EF4-FFF2-40B4-BE49-F238E27FC236}">
                <a16:creationId xmlns:a16="http://schemas.microsoft.com/office/drawing/2014/main" id="{D0ECD24E-CB61-442E-B3D1-8C536391C213}"/>
              </a:ext>
            </a:extLst>
          </p:cNvPr>
          <p:cNvSpPr>
            <a:spLocks xmlns:a="http://schemas.openxmlformats.org/drawingml/2006/main" noGrp="1"/>
          </p:cNvSpPr>
          <p:nvPr/>
        </p:nvSpPr>
        <p:spPr>
          <a:xfrm xmlns:a="http://schemas.openxmlformats.org/drawingml/2006/main">
            <a:off x="609600" y="28765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2  ASSEMBLE CONTEXT</a:t>
            </a:r>
          </a:p>
        </p:txBody>
      </p:sp>
      <p:sp>
        <p:nvSpPr>
          <p:cNvPr id="7" name="">
            <a:extLst xmlns:a="http://schemas.openxmlformats.org/drawingml/2006/main">
              <a:ext uri="{FF2B5EF4-FFF2-40B4-BE49-F238E27FC236}">
                <a16:creationId xmlns:a16="http://schemas.microsoft.com/office/drawing/2014/main" id="{5D05D751-33A5-4306-A72C-564A795E3063}"/>
              </a:ext>
            </a:extLst>
          </p:cNvPr>
          <p:cNvSpPr>
            <a:spLocks xmlns:a="http://schemas.openxmlformats.org/drawingml/2006/main" noGrp="1"/>
          </p:cNvSpPr>
          <p:nvPr/>
        </p:nvSpPr>
        <p:spPr>
          <a:xfrm xmlns:a="http://schemas.openxmlformats.org/drawingml/2006/main">
            <a:off x="2943225" y="28765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Retrieve relevant, dated evidence and the approved coaching method.</a:t>
            </a:r>
          </a:p>
        </p:txBody>
      </p:sp>
      <p:sp>
        <p:nvSpPr>
          <p:cNvPr id="8" name="">
            <a:extLst xmlns:a="http://schemas.openxmlformats.org/drawingml/2006/main">
              <a:ext uri="{FF2B5EF4-FFF2-40B4-BE49-F238E27FC236}">
                <a16:creationId xmlns:a16="http://schemas.microsoft.com/office/drawing/2014/main" id="{6B5767F2-C1D1-4400-BC0D-45CDAA515DF7}"/>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3  PROPOSE</a:t>
            </a:r>
          </a:p>
        </p:txBody>
      </p:sp>
      <p:sp>
        <p:nvSpPr>
          <p:cNvPr id="9" name="">
            <a:extLst xmlns:a="http://schemas.openxmlformats.org/drawingml/2006/main">
              <a:ext uri="{FF2B5EF4-FFF2-40B4-BE49-F238E27FC236}">
                <a16:creationId xmlns:a16="http://schemas.microsoft.com/office/drawing/2014/main" id="{C9F9E012-F444-428A-BFD4-874CCA19B93F}"/>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AI helps explain options. Missing facts remain unknown.</a:t>
            </a:r>
          </a:p>
        </p:txBody>
      </p:sp>
      <p:sp>
        <p:nvSpPr>
          <p:cNvPr id="10" name="">
            <a:extLst xmlns:a="http://schemas.openxmlformats.org/drawingml/2006/main">
              <a:ext uri="{FF2B5EF4-FFF2-40B4-BE49-F238E27FC236}">
                <a16:creationId xmlns:a16="http://schemas.microsoft.com/office/drawing/2014/main" id="{4DC28BF1-B539-4747-ABD9-723E1F3AF2E2}"/>
              </a:ext>
            </a:extLst>
          </p:cNvPr>
          <p:cNvSpPr>
            <a:spLocks xmlns:a="http://schemas.openxmlformats.org/drawingml/2006/main" noGrp="1"/>
          </p:cNvSpPr>
          <p:nvPr/>
        </p:nvSpPr>
        <p:spPr>
          <a:xfrm xmlns:a="http://schemas.openxmlformats.org/drawingml/2006/main">
            <a:off x="609600" y="47625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4  CONFIRM + RECORD</a:t>
            </a:r>
          </a:p>
        </p:txBody>
      </p:sp>
      <p:sp>
        <p:nvSpPr>
          <p:cNvPr id="11" name="">
            <a:extLst xmlns:a="http://schemas.openxmlformats.org/drawingml/2006/main">
              <a:ext uri="{FF2B5EF4-FFF2-40B4-BE49-F238E27FC236}">
                <a16:creationId xmlns:a16="http://schemas.microsoft.com/office/drawing/2014/main" id="{6C8FA116-803B-4E11-B9BD-355E3070DD26}"/>
              </a:ext>
            </a:extLst>
          </p:cNvPr>
          <p:cNvSpPr>
            <a:spLocks xmlns:a="http://schemas.openxmlformats.org/drawingml/2006/main" noGrp="1"/>
          </p:cNvSpPr>
          <p:nvPr/>
        </p:nvSpPr>
        <p:spPr>
          <a:xfrm xmlns:a="http://schemas.openxmlformats.org/drawingml/2006/main">
            <a:off x="2943225" y="47625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appropriate people accept a plan. MORE records the change and source.</a:t>
            </a:r>
          </a:p>
        </p:txBody>
      </p:sp>
      <p:sp>
        <p:nvSpPr>
          <p:cNvPr id="12" name="">
            <a:extLst xmlns:a="http://schemas.openxmlformats.org/drawingml/2006/main">
              <a:ext uri="{FF2B5EF4-FFF2-40B4-BE49-F238E27FC236}">
                <a16:creationId xmlns:a16="http://schemas.microsoft.com/office/drawing/2014/main" id="{676BF605-E25C-4000-A544-4E4384B77B89}"/>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An AI suggestion becomes an agreement only through confirmation.</a:t>
            </a:r>
          </a:p>
        </p:txBody>
      </p:sp>
    </p:spTree>
    <p:extLst>
      <p:ext uri="{BB962C8B-B14F-4D97-AF65-F5344CB8AC3E}">
        <p14:creationId xmlns:p14="http://schemas.microsoft.com/office/powerpoint/2010/main" val="2049141632"/>
      </p:ext>
    </p:extLst>
  </p:cSld>
</p:sld>
</file>

<file path=ppt/slides/slide14.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8046CA-E597-46C7-AD6F-0DBF24051A2E}"/>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MORE works alongside existing tools</a:t>
            </a:r>
          </a:p>
        </p:txBody>
      </p:sp>
      <p:sp>
        <p:nvSpPr>
          <p:cNvPr id="2" name="">
            <a:extLst xmlns:a="http://schemas.openxmlformats.org/drawingml/2006/main">
              <a:ext uri="{FF2B5EF4-FFF2-40B4-BE49-F238E27FC236}">
                <a16:creationId xmlns:a16="http://schemas.microsoft.com/office/drawing/2014/main" id="{A94ED4DA-85B0-4795-87AD-735143F0EFD0}"/>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A2CB78B2-2AFF-4888-93A0-CECB60E20638}"/>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C9597C86-2E52-4ED7-A14B-1F184B9D0C28}"/>
              </a:ext>
            </a:extLst>
          </p:cNvPr>
          <p:cNvSpPr>
            <a:spLocks xmlns:a="http://schemas.openxmlformats.org/drawingml/2006/main" noGrp="1"/>
          </p:cNvSpPr>
          <p:nvPr/>
        </p:nvSpPr>
        <p:spPr>
          <a:xfrm xmlns:a="http://schemas.openxmlformats.org/drawingml/2006/main">
            <a:off x="609600" y="19240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SCHEDULING + BILLING</a:t>
            </a:r>
          </a:p>
        </p:txBody>
      </p:sp>
      <p:sp>
        <p:nvSpPr>
          <p:cNvPr id="5" name="">
            <a:extLst xmlns:a="http://schemas.openxmlformats.org/drawingml/2006/main">
              <a:ext uri="{FF2B5EF4-FFF2-40B4-BE49-F238E27FC236}">
                <a16:creationId xmlns:a16="http://schemas.microsoft.com/office/drawing/2014/main" id="{F5C30912-027B-409E-830B-567B5A0AE84A}"/>
              </a:ext>
            </a:extLst>
          </p:cNvPr>
          <p:cNvSpPr>
            <a:spLocks xmlns:a="http://schemas.openxmlformats.org/drawingml/2006/main" noGrp="1"/>
          </p:cNvSpPr>
          <p:nvPr/>
        </p:nvSpPr>
        <p:spPr>
          <a:xfrm xmlns:a="http://schemas.openxmlformats.org/drawingml/2006/main">
            <a:off x="2943225" y="19240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Keep registration, calendars, tournaments and payments in their tools.</a:t>
            </a:r>
          </a:p>
        </p:txBody>
      </p:sp>
      <p:sp>
        <p:nvSpPr>
          <p:cNvPr id="6" name="">
            <a:extLst xmlns:a="http://schemas.openxmlformats.org/drawingml/2006/main">
              <a:ext uri="{FF2B5EF4-FFF2-40B4-BE49-F238E27FC236}">
                <a16:creationId xmlns:a16="http://schemas.microsoft.com/office/drawing/2014/main" id="{F669B5B3-F7A6-474C-BDDC-80E44BF8F9AE}"/>
              </a:ext>
            </a:extLst>
          </p:cNvPr>
          <p:cNvSpPr>
            <a:spLocks xmlns:a="http://schemas.openxmlformats.org/drawingml/2006/main" noGrp="1"/>
          </p:cNvSpPr>
          <p:nvPr/>
        </p:nvSpPr>
        <p:spPr>
          <a:xfrm xmlns:a="http://schemas.openxmlformats.org/drawingml/2006/main">
            <a:off x="609600" y="28860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VIDEO + WEARABLES</a:t>
            </a:r>
          </a:p>
        </p:txBody>
      </p:sp>
      <p:sp>
        <p:nvSpPr>
          <p:cNvPr id="7" name="">
            <a:extLst xmlns:a="http://schemas.openxmlformats.org/drawingml/2006/main">
              <a:ext uri="{FF2B5EF4-FFF2-40B4-BE49-F238E27FC236}">
                <a16:creationId xmlns:a16="http://schemas.microsoft.com/office/drawing/2014/main" id="{9EC30629-787A-4BBC-AE23-B295CC5026E9}"/>
              </a:ext>
            </a:extLst>
          </p:cNvPr>
          <p:cNvSpPr>
            <a:spLocks xmlns:a="http://schemas.openxmlformats.org/drawingml/2006/main" noGrp="1"/>
          </p:cNvSpPr>
          <p:nvPr/>
        </p:nvSpPr>
        <p:spPr>
          <a:xfrm xmlns:a="http://schemas.openxmlformats.org/drawingml/2006/main">
            <a:off x="2943225" y="28860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Use authorized footage and measurements with source details.</a:t>
            </a:r>
          </a:p>
        </p:txBody>
      </p:sp>
      <p:sp>
        <p:nvSpPr>
          <p:cNvPr id="8" name="">
            <a:extLst xmlns:a="http://schemas.openxmlformats.org/drawingml/2006/main">
              <a:ext uri="{FF2B5EF4-FFF2-40B4-BE49-F238E27FC236}">
                <a16:creationId xmlns:a16="http://schemas.microsoft.com/office/drawing/2014/main" id="{C75F1D7B-7247-4C2C-8B25-7657E231E8A2}"/>
              </a:ext>
            </a:extLst>
          </p:cNvPr>
          <p:cNvSpPr>
            <a:spLocks xmlns:a="http://schemas.openxmlformats.org/drawingml/2006/main" noGrp="1"/>
          </p:cNvSpPr>
          <p:nvPr/>
        </p:nvSpPr>
        <p:spPr>
          <a:xfrm xmlns:a="http://schemas.openxmlformats.org/drawingml/2006/main">
            <a:off x="609600" y="3848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SCHOOLS + CLUBS</a:t>
            </a:r>
          </a:p>
        </p:txBody>
      </p:sp>
      <p:sp>
        <p:nvSpPr>
          <p:cNvPr id="9" name="">
            <a:extLst xmlns:a="http://schemas.openxmlformats.org/drawingml/2006/main">
              <a:ext uri="{FF2B5EF4-FFF2-40B4-BE49-F238E27FC236}">
                <a16:creationId xmlns:a16="http://schemas.microsoft.com/office/drawing/2014/main" id="{D7ADEC17-36E0-44EB-B264-6B37E1692AAF}"/>
              </a:ext>
            </a:extLst>
          </p:cNvPr>
          <p:cNvSpPr>
            <a:spLocks xmlns:a="http://schemas.openxmlformats.org/drawingml/2006/main" noGrp="1"/>
          </p:cNvSpPr>
          <p:nvPr/>
        </p:nvSpPr>
        <p:spPr>
          <a:xfrm xmlns:a="http://schemas.openxmlformats.org/drawingml/2006/main">
            <a:off x="2943225" y="3848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Obtain roster, graduation and competition facts from appropriate sources.</a:t>
            </a:r>
          </a:p>
        </p:txBody>
      </p:sp>
      <p:sp>
        <p:nvSpPr>
          <p:cNvPr id="10" name="">
            <a:extLst xmlns:a="http://schemas.openxmlformats.org/drawingml/2006/main">
              <a:ext uri="{FF2B5EF4-FFF2-40B4-BE49-F238E27FC236}">
                <a16:creationId xmlns:a16="http://schemas.microsoft.com/office/drawing/2014/main" id="{92B510E7-BD5F-49C9-A3E2-D9C2EAA727B5}"/>
              </a:ext>
            </a:extLst>
          </p:cNvPr>
          <p:cNvSpPr>
            <a:spLocks xmlns:a="http://schemas.openxmlformats.org/drawingml/2006/main" noGrp="1"/>
          </p:cNvSpPr>
          <p:nvPr/>
        </p:nvSpPr>
        <p:spPr>
          <a:xfrm xmlns:a="http://schemas.openxmlformats.org/drawingml/2006/main">
            <a:off x="609600" y="48101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MORE</a:t>
            </a:r>
          </a:p>
        </p:txBody>
      </p:sp>
      <p:sp>
        <p:nvSpPr>
          <p:cNvPr id="11" name="">
            <a:extLst xmlns:a="http://schemas.openxmlformats.org/drawingml/2006/main">
              <a:ext uri="{FF2B5EF4-FFF2-40B4-BE49-F238E27FC236}">
                <a16:creationId xmlns:a16="http://schemas.microsoft.com/office/drawing/2014/main" id="{039F6BB6-7EFF-4AD6-97D8-B4287C581B2F}"/>
              </a:ext>
            </a:extLst>
          </p:cNvPr>
          <p:cNvSpPr>
            <a:spLocks xmlns:a="http://schemas.openxmlformats.org/drawingml/2006/main" noGrp="1"/>
          </p:cNvSpPr>
          <p:nvPr/>
        </p:nvSpPr>
        <p:spPr>
          <a:xfrm xmlns:a="http://schemas.openxmlformats.org/drawingml/2006/main">
            <a:off x="2943225" y="48101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Connect relevant evidence to development decisions and follow-through.</a:t>
            </a:r>
          </a:p>
        </p:txBody>
      </p:sp>
      <p:sp>
        <p:nvSpPr>
          <p:cNvPr id="12" name="">
            <a:extLst xmlns:a="http://schemas.openxmlformats.org/drawingml/2006/main">
              <a:ext uri="{FF2B5EF4-FFF2-40B4-BE49-F238E27FC236}">
                <a16:creationId xmlns:a16="http://schemas.microsoft.com/office/drawing/2014/main" id="{E5E004AA-3026-4DDF-81D3-CC91ADA5CA27}"/>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Useful integrations expand the record without replacing every system.</a:t>
            </a:r>
          </a:p>
        </p:txBody>
      </p:sp>
    </p:spTree>
    <p:extLst>
      <p:ext uri="{BB962C8B-B14F-4D97-AF65-F5344CB8AC3E}">
        <p14:creationId xmlns:p14="http://schemas.microsoft.com/office/powerpoint/2010/main" val="338220694"/>
      </p:ext>
    </p:extLst>
  </p:cSld>
</p:sld>
</file>

<file path=ppt/slides/slide15.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501DAA-EA61-44A4-BEB3-2BDC9D726127}"/>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Three distinct permission boundaries</a:t>
            </a:r>
          </a:p>
        </p:txBody>
      </p:sp>
      <p:sp>
        <p:nvSpPr>
          <p:cNvPr id="2" name="">
            <a:extLst xmlns:a="http://schemas.openxmlformats.org/drawingml/2006/main">
              <a:ext uri="{FF2B5EF4-FFF2-40B4-BE49-F238E27FC236}">
                <a16:creationId xmlns:a16="http://schemas.microsoft.com/office/drawing/2014/main" id="{EB52839E-AECE-4C01-98F0-EC00A1F5EDAF}"/>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E45AEC57-F601-496A-8B70-F249D718E259}"/>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1F5F2B98-6B5F-47AC-928D-91F5F5713CFF}"/>
              </a:ext>
            </a:extLst>
          </p:cNvPr>
          <p:cNvSpPr>
            <a:spLocks xmlns:a="http://schemas.openxmlformats.org/drawingml/2006/main" noGrp="1"/>
          </p:cNvSpPr>
          <p:nvPr/>
        </p:nvSpPr>
        <p:spPr>
          <a:xfrm xmlns:a="http://schemas.openxmlformats.org/drawingml/2006/main">
            <a:off x="609600" y="19621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PRIVATE</a:t>
            </a:r>
          </a:p>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DEVELOPMENT</a:t>
            </a:r>
          </a:p>
        </p:txBody>
      </p:sp>
      <p:sp>
        <p:nvSpPr>
          <p:cNvPr id="5" name="">
            <a:extLst xmlns:a="http://schemas.openxmlformats.org/drawingml/2006/main">
              <a:ext uri="{FF2B5EF4-FFF2-40B4-BE49-F238E27FC236}">
                <a16:creationId xmlns:a16="http://schemas.microsoft.com/office/drawing/2014/main" id="{C5CF6E98-1CF3-43BC-9E42-6AD35077266C}"/>
              </a:ext>
            </a:extLst>
          </p:cNvPr>
          <p:cNvSpPr>
            <a:spLocks xmlns:a="http://schemas.openxmlformats.org/drawingml/2006/main" noGrp="1"/>
          </p:cNvSpPr>
          <p:nvPr/>
        </p:nvSpPr>
        <p:spPr>
          <a:xfrm xmlns:a="http://schemas.openxmlformats.org/drawingml/2006/main">
            <a:off x="609600" y="29241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Candid reflection and sensitive context. Access stays within its agreed purpose.</a:t>
            </a:r>
          </a:p>
        </p:txBody>
      </p:sp>
      <p:sp>
        <p:nvSpPr>
          <p:cNvPr id="6" name="">
            <a:extLst xmlns:a="http://schemas.openxmlformats.org/drawingml/2006/main">
              <a:ext uri="{FF2B5EF4-FFF2-40B4-BE49-F238E27FC236}">
                <a16:creationId xmlns:a16="http://schemas.microsoft.com/office/drawing/2014/main" id="{A7A25141-1876-4A77-BA0D-DE9425461769}"/>
              </a:ext>
            </a:extLst>
          </p:cNvPr>
          <p:cNvSpPr>
            <a:spLocks xmlns:a="http://schemas.openxmlformats.org/drawingml/2006/main" noGrp="1"/>
          </p:cNvSpPr>
          <p:nvPr/>
        </p:nvSpPr>
        <p:spPr>
          <a:xfrm xmlns:a="http://schemas.openxmlformats.org/drawingml/2006/main">
            <a:off x="4267200" y="19621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SHARED</a:t>
            </a:r>
          </a:p>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COACHING</a:t>
            </a:r>
          </a:p>
        </p:txBody>
      </p:sp>
      <p:sp>
        <p:nvSpPr>
          <p:cNvPr id="7" name="">
            <a:extLst xmlns:a="http://schemas.openxmlformats.org/drawingml/2006/main">
              <a:ext uri="{FF2B5EF4-FFF2-40B4-BE49-F238E27FC236}">
                <a16:creationId xmlns:a16="http://schemas.microsoft.com/office/drawing/2014/main" id="{636E8F8F-00B4-4193-9D30-7954BA118968}"/>
              </a:ext>
            </a:extLst>
          </p:cNvPr>
          <p:cNvSpPr>
            <a:spLocks xmlns:a="http://schemas.openxmlformats.org/drawingml/2006/main" noGrp="1"/>
          </p:cNvSpPr>
          <p:nvPr/>
        </p:nvSpPr>
        <p:spPr>
          <a:xfrm xmlns:a="http://schemas.openxmlformats.org/drawingml/2006/main">
            <a:off x="4267200" y="29241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Approved goals, coach contributions, plans and appropriate progress.</a:t>
            </a:r>
          </a:p>
        </p:txBody>
      </p:sp>
      <p:sp>
        <p:nvSpPr>
          <p:cNvPr id="8" name="">
            <a:extLst xmlns:a="http://schemas.openxmlformats.org/drawingml/2006/main">
              <a:ext uri="{FF2B5EF4-FFF2-40B4-BE49-F238E27FC236}">
                <a16:creationId xmlns:a16="http://schemas.microsoft.com/office/drawing/2014/main" id="{AF3D359F-C030-4498-9E66-B81E7C70A4A4}"/>
              </a:ext>
            </a:extLst>
          </p:cNvPr>
          <p:cNvSpPr>
            <a:spLocks xmlns:a="http://schemas.openxmlformats.org/drawingml/2006/main" noGrp="1"/>
          </p:cNvSpPr>
          <p:nvPr/>
        </p:nvSpPr>
        <p:spPr>
          <a:xfrm xmlns:a="http://schemas.openxmlformats.org/drawingml/2006/main">
            <a:off x="7924800" y="19621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RECRUITMENT</a:t>
            </a:r>
          </a:p>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PACKET</a:t>
            </a:r>
          </a:p>
        </p:txBody>
      </p:sp>
      <p:sp>
        <p:nvSpPr>
          <p:cNvPr id="9" name="">
            <a:extLst xmlns:a="http://schemas.openxmlformats.org/drawingml/2006/main">
              <a:ext uri="{FF2B5EF4-FFF2-40B4-BE49-F238E27FC236}">
                <a16:creationId xmlns:a16="http://schemas.microsoft.com/office/drawing/2014/main" id="{C652BA9C-C14C-4A95-A22B-2E0F4D6920D3}"/>
              </a:ext>
            </a:extLst>
          </p:cNvPr>
          <p:cNvSpPr>
            <a:spLocks xmlns:a="http://schemas.openxmlformats.org/drawingml/2006/main" noGrp="1"/>
          </p:cNvSpPr>
          <p:nvPr/>
        </p:nvSpPr>
        <p:spPr>
          <a:xfrm xmlns:a="http://schemas.openxmlformats.org/drawingml/2006/main">
            <a:off x="7924800" y="29241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A separately authorized selection of relevant, evidenced information.</a:t>
            </a:r>
          </a:p>
        </p:txBody>
      </p:sp>
      <p:sp>
        <p:nvSpPr>
          <p:cNvPr id="10" name="">
            <a:extLst xmlns:a="http://schemas.openxmlformats.org/drawingml/2006/main">
              <a:ext uri="{FF2B5EF4-FFF2-40B4-BE49-F238E27FC236}">
                <a16:creationId xmlns:a16="http://schemas.microsoft.com/office/drawing/2014/main" id="{9E3CEE66-8AAC-45FA-A15C-026297123515}"/>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Paying for the program does not unlock an athlete’s private history.</a:t>
            </a:r>
          </a:p>
        </p:txBody>
      </p:sp>
    </p:spTree>
    <p:extLst>
      <p:ext uri="{BB962C8B-B14F-4D97-AF65-F5344CB8AC3E}">
        <p14:creationId xmlns:p14="http://schemas.microsoft.com/office/powerpoint/2010/main" val="1084925020"/>
      </p:ext>
    </p:extLst>
  </p:cSld>
</p:sld>
</file>

<file path=ppt/slides/slide16.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0FCA00-51EA-463B-A4A4-E943B0A4D513}"/>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04  ATHLETE PASSPORT</a:t>
            </a:r>
          </a:p>
        </p:txBody>
      </p:sp>
      <p:sp>
        <p:nvSpPr>
          <p:cNvPr id="2" name="">
            <a:extLst xmlns:a="http://schemas.openxmlformats.org/drawingml/2006/main">
              <a:ext uri="{FF2B5EF4-FFF2-40B4-BE49-F238E27FC236}">
                <a16:creationId xmlns:a16="http://schemas.microsoft.com/office/drawing/2014/main" id="{962232D0-6A15-43D7-A5D8-6DD4E8415E09}"/>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5F2E1864-92E1-41AB-9440-931D87102FE7}"/>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A702F835-3277-49BC-AADA-1749D74B317A}"/>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Selected development history follows the athlete.</a:t>
            </a:r>
          </a:p>
        </p:txBody>
      </p:sp>
      <p:sp>
        <p:nvSpPr>
          <p:cNvPr id="5" name="">
            <a:extLst xmlns:a="http://schemas.openxmlformats.org/drawingml/2006/main">
              <a:ext uri="{FF2B5EF4-FFF2-40B4-BE49-F238E27FC236}">
                <a16:creationId xmlns:a16="http://schemas.microsoft.com/office/drawing/2014/main" id="{641AD738-53DF-4B6C-B676-96A18FBC7691}"/>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B67BE4EE-7615-44C3-A5A8-1235E85DE33C}"/>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Sponsoring or receiving programs. Packaging remains to be tested.</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The athlete and authorized current or next coaches.</a:t>
            </a:r>
          </a:p>
        </p:txBody>
      </p:sp>
      <p:sp>
        <p:nvSpPr>
          <p:cNvPr id="7" name="">
            <a:extLst xmlns:a="http://schemas.openxmlformats.org/drawingml/2006/main">
              <a:ext uri="{FF2B5EF4-FFF2-40B4-BE49-F238E27FC236}">
                <a16:creationId xmlns:a16="http://schemas.microsoft.com/office/drawing/2014/main" id="{F3E9BFA6-8B2D-4F2A-9BE9-2A44345191A4}"/>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E73D79AF-840F-4762-9736-0C1DD04895FC}"/>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Sourced observations, measurements, competition evidence and sharing history.</a:t>
            </a:r>
          </a:p>
        </p:txBody>
      </p:sp>
      <p:sp>
        <p:nvSpPr>
          <p:cNvPr id="9" name="">
            <a:extLst xmlns:a="http://schemas.openxmlformats.org/drawingml/2006/main">
              <a:ext uri="{FF2B5EF4-FFF2-40B4-BE49-F238E27FC236}">
                <a16:creationId xmlns:a16="http://schemas.microsoft.com/office/drawing/2014/main" id="{A8F4E47D-C11F-428B-AEB2-62C36888FD27}"/>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43DB3F48-096B-4303-9067-8F0E474E03E1}"/>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 receiving coach uses the record, understands its sources and respects its limits.</a:t>
            </a:r>
          </a:p>
        </p:txBody>
      </p:sp>
    </p:spTree>
    <p:extLst>
      <p:ext uri="{BB962C8B-B14F-4D97-AF65-F5344CB8AC3E}">
        <p14:creationId xmlns:p14="http://schemas.microsoft.com/office/powerpoint/2010/main" val="238478905"/>
      </p:ext>
    </p:extLst>
  </p:cSld>
</p:sld>
</file>

<file path=ppt/slides/slide17.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96254F-D389-4316-9103-DCE906E99B2B}"/>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What makes the passport trustworthy</a:t>
            </a:r>
          </a:p>
        </p:txBody>
      </p:sp>
      <p:sp>
        <p:nvSpPr>
          <p:cNvPr id="2" name="">
            <a:extLst xmlns:a="http://schemas.openxmlformats.org/drawingml/2006/main">
              <a:ext uri="{FF2B5EF4-FFF2-40B4-BE49-F238E27FC236}">
                <a16:creationId xmlns:a16="http://schemas.microsoft.com/office/drawing/2014/main" id="{95C8D33E-BD66-426F-BF9D-8F89C9A11449}"/>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94BB6731-A386-4823-842E-30EC845037B3}"/>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45B507FF-7D3E-489F-9AF1-D00D31432756}"/>
              </a:ext>
            </a:extLst>
          </p:cNvPr>
          <p:cNvSpPr>
            <a:spLocks xmlns:a="http://schemas.openxmlformats.org/drawingml/2006/main" noGrp="1"/>
          </p:cNvSpPr>
          <p:nvPr/>
        </p:nvSpPr>
        <p:spPr>
          <a:xfrm xmlns:a="http://schemas.openxmlformats.org/drawingml/2006/main">
            <a:off x="609600" y="19716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GOALS + WORK</a:t>
            </a:r>
          </a:p>
        </p:txBody>
      </p:sp>
      <p:sp>
        <p:nvSpPr>
          <p:cNvPr id="5" name="">
            <a:extLst xmlns:a="http://schemas.openxmlformats.org/drawingml/2006/main">
              <a:ext uri="{FF2B5EF4-FFF2-40B4-BE49-F238E27FC236}">
                <a16:creationId xmlns:a16="http://schemas.microsoft.com/office/drawing/2014/main" id="{C8659959-EF2F-473A-8626-630BB7552960}"/>
              </a:ext>
            </a:extLst>
          </p:cNvPr>
          <p:cNvSpPr>
            <a:spLocks xmlns:a="http://schemas.openxmlformats.org/drawingml/2006/main" noGrp="1"/>
          </p:cNvSpPr>
          <p:nvPr/>
        </p:nvSpPr>
        <p:spPr>
          <a:xfrm xmlns:a="http://schemas.openxmlformats.org/drawingml/2006/main">
            <a:off x="2943225" y="19716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What the athlete wants and what the athlete and coach agreed.</a:t>
            </a:r>
          </a:p>
        </p:txBody>
      </p:sp>
      <p:sp>
        <p:nvSpPr>
          <p:cNvPr id="6" name="">
            <a:extLst xmlns:a="http://schemas.openxmlformats.org/drawingml/2006/main">
              <a:ext uri="{FF2B5EF4-FFF2-40B4-BE49-F238E27FC236}">
                <a16:creationId xmlns:a16="http://schemas.microsoft.com/office/drawing/2014/main" id="{86DF3D30-BE24-4CA8-8D2B-C0964398FD26}"/>
              </a:ext>
            </a:extLst>
          </p:cNvPr>
          <p:cNvSpPr>
            <a:spLocks xmlns:a="http://schemas.openxmlformats.org/drawingml/2006/main" noGrp="1"/>
          </p:cNvSpPr>
          <p:nvPr/>
        </p:nvSpPr>
        <p:spPr>
          <a:xfrm xmlns:a="http://schemas.openxmlformats.org/drawingml/2006/main">
            <a:off x="609600" y="29432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OBSERVATIONS</a:t>
            </a:r>
          </a:p>
        </p:txBody>
      </p:sp>
      <p:sp>
        <p:nvSpPr>
          <p:cNvPr id="7" name="">
            <a:extLst xmlns:a="http://schemas.openxmlformats.org/drawingml/2006/main">
              <a:ext uri="{FF2B5EF4-FFF2-40B4-BE49-F238E27FC236}">
                <a16:creationId xmlns:a16="http://schemas.microsoft.com/office/drawing/2014/main" id="{DDCE70E7-7DB1-4CA3-9F1C-B0E9A761C22A}"/>
              </a:ext>
            </a:extLst>
          </p:cNvPr>
          <p:cNvSpPr>
            <a:spLocks xmlns:a="http://schemas.openxmlformats.org/drawingml/2006/main" noGrp="1"/>
          </p:cNvSpPr>
          <p:nvPr/>
        </p:nvSpPr>
        <p:spPr>
          <a:xfrm xmlns:a="http://schemas.openxmlformats.org/drawingml/2006/main">
            <a:off x="2943225" y="29432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Who observed what, in which setting, and on what date.</a:t>
            </a:r>
          </a:p>
        </p:txBody>
      </p:sp>
      <p:sp>
        <p:nvSpPr>
          <p:cNvPr id="8" name="">
            <a:extLst xmlns:a="http://schemas.openxmlformats.org/drawingml/2006/main">
              <a:ext uri="{FF2B5EF4-FFF2-40B4-BE49-F238E27FC236}">
                <a16:creationId xmlns:a16="http://schemas.microsoft.com/office/drawing/2014/main" id="{A3AC009F-A7FE-47AA-A114-39768A1BCB57}"/>
              </a:ext>
            </a:extLst>
          </p:cNvPr>
          <p:cNvSpPr>
            <a:spLocks xmlns:a="http://schemas.openxmlformats.org/drawingml/2006/main" noGrp="1"/>
          </p:cNvSpPr>
          <p:nvPr/>
        </p:nvSpPr>
        <p:spPr>
          <a:xfrm xmlns:a="http://schemas.openxmlformats.org/drawingml/2006/main">
            <a:off x="609600" y="39147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MEASUREMENTS</a:t>
            </a:r>
          </a:p>
        </p:txBody>
      </p:sp>
      <p:sp>
        <p:nvSpPr>
          <p:cNvPr id="9" name="">
            <a:extLst xmlns:a="http://schemas.openxmlformats.org/drawingml/2006/main">
              <a:ext uri="{FF2B5EF4-FFF2-40B4-BE49-F238E27FC236}">
                <a16:creationId xmlns:a16="http://schemas.microsoft.com/office/drawing/2014/main" id="{8B8D5669-CBC8-4C84-A1BE-EFA04C0794CF}"/>
              </a:ext>
            </a:extLst>
          </p:cNvPr>
          <p:cNvSpPr>
            <a:spLocks xmlns:a="http://schemas.openxmlformats.org/drawingml/2006/main" noGrp="1"/>
          </p:cNvSpPr>
          <p:nvPr/>
        </p:nvSpPr>
        <p:spPr>
          <a:xfrm xmlns:a="http://schemas.openxmlformats.org/drawingml/2006/main">
            <a:off x="2943225" y="39147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Method, units, conditions, date and verification status.</a:t>
            </a:r>
          </a:p>
        </p:txBody>
      </p:sp>
      <p:sp>
        <p:nvSpPr>
          <p:cNvPr id="10" name="">
            <a:extLst xmlns:a="http://schemas.openxmlformats.org/drawingml/2006/main">
              <a:ext uri="{FF2B5EF4-FFF2-40B4-BE49-F238E27FC236}">
                <a16:creationId xmlns:a16="http://schemas.microsoft.com/office/drawing/2014/main" id="{D17975DF-5330-42A9-8F5C-490244B24E23}"/>
              </a:ext>
            </a:extLst>
          </p:cNvPr>
          <p:cNvSpPr>
            <a:spLocks xmlns:a="http://schemas.openxmlformats.org/drawingml/2006/main" noGrp="1"/>
          </p:cNvSpPr>
          <p:nvPr/>
        </p:nvSpPr>
        <p:spPr>
          <a:xfrm xmlns:a="http://schemas.openxmlformats.org/drawingml/2006/main">
            <a:off x="609600" y="48863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HISTORY + LIMITS</a:t>
            </a:r>
          </a:p>
        </p:txBody>
      </p:sp>
      <p:sp>
        <p:nvSpPr>
          <p:cNvPr id="11" name="">
            <a:extLst xmlns:a="http://schemas.openxmlformats.org/drawingml/2006/main">
              <a:ext uri="{FF2B5EF4-FFF2-40B4-BE49-F238E27FC236}">
                <a16:creationId xmlns:a16="http://schemas.microsoft.com/office/drawing/2014/main" id="{61611775-7DAD-4C4E-8408-5F0B30F5E9C4}"/>
              </a:ext>
            </a:extLst>
          </p:cNvPr>
          <p:cNvSpPr>
            <a:spLocks xmlns:a="http://schemas.openxmlformats.org/drawingml/2006/main" noGrp="1"/>
          </p:cNvSpPr>
          <p:nvPr/>
        </p:nvSpPr>
        <p:spPr>
          <a:xfrm xmlns:a="http://schemas.openxmlformats.org/drawingml/2006/main">
            <a:off x="2943225" y="48863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Attempts, outcomes, corrections and unresolved uncertainty.</a:t>
            </a:r>
          </a:p>
        </p:txBody>
      </p:sp>
      <p:sp>
        <p:nvSpPr>
          <p:cNvPr id="12" name="">
            <a:extLst xmlns:a="http://schemas.openxmlformats.org/drawingml/2006/main">
              <a:ext uri="{FF2B5EF4-FFF2-40B4-BE49-F238E27FC236}">
                <a16:creationId xmlns:a16="http://schemas.microsoft.com/office/drawing/2014/main" id="{27193752-5D2C-4C0D-921C-3558BA63AAFD}"/>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Every important claim should lead back to its supporting evidence.</a:t>
            </a:r>
          </a:p>
        </p:txBody>
      </p:sp>
    </p:spTree>
    <p:extLst>
      <p:ext uri="{BB962C8B-B14F-4D97-AF65-F5344CB8AC3E}">
        <p14:creationId xmlns:p14="http://schemas.microsoft.com/office/powerpoint/2010/main" val="1395337250"/>
      </p:ext>
    </p:extLst>
  </p:cSld>
</p:sld>
</file>

<file path=ppt/slides/slide18.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9DAACF-A705-4907-8628-97A75C9B28B3}"/>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05  NEXT LEVEL</a:t>
            </a:r>
          </a:p>
        </p:txBody>
      </p:sp>
      <p:sp>
        <p:nvSpPr>
          <p:cNvPr id="2" name="">
            <a:extLst xmlns:a="http://schemas.openxmlformats.org/drawingml/2006/main">
              <a:ext uri="{FF2B5EF4-FFF2-40B4-BE49-F238E27FC236}">
                <a16:creationId xmlns:a16="http://schemas.microsoft.com/office/drawing/2014/main" id="{FFBE340B-D4B5-4691-AA6E-0637DEF463EB}"/>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9A596342-A9DB-4180-A9A6-D87AB20DCEB1}"/>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A36912F8-82A1-42ED-AA3B-62A1189CDF90}"/>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Trusted evidence supports recruiting and the next environment.</a:t>
            </a:r>
          </a:p>
        </p:txBody>
      </p:sp>
      <p:sp>
        <p:nvSpPr>
          <p:cNvPr id="5" name="">
            <a:extLst xmlns:a="http://schemas.openxmlformats.org/drawingml/2006/main">
              <a:ext uri="{FF2B5EF4-FFF2-40B4-BE49-F238E27FC236}">
                <a16:creationId xmlns:a16="http://schemas.microsoft.com/office/drawing/2014/main" id="{28EBC39E-E133-4F4A-B610-C06EB3D0E272}"/>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27CF21AB-45AF-42B7-A249-11EE9C856B13}"/>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College programs or pathway partners. Paid value needs testing.</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Opted-in athletes, authorized recruiters and receiving coaches.</a:t>
            </a:r>
          </a:p>
        </p:txBody>
      </p:sp>
      <p:sp>
        <p:nvSpPr>
          <p:cNvPr id="7" name="">
            <a:extLst xmlns:a="http://schemas.openxmlformats.org/drawingml/2006/main">
              <a:ext uri="{FF2B5EF4-FFF2-40B4-BE49-F238E27FC236}">
                <a16:creationId xmlns:a16="http://schemas.microsoft.com/office/drawing/2014/main" id="{4327E936-678E-4AC8-9B2B-FD24D1871DD1}"/>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6DE69808-6A7A-4342-B539-5CA4363CD590}"/>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Recruitment packets, current interest, evidence checks and transition permissions.</a:t>
            </a:r>
          </a:p>
        </p:txBody>
      </p:sp>
      <p:sp>
        <p:nvSpPr>
          <p:cNvPr id="9" name="">
            <a:extLst xmlns:a="http://schemas.openxmlformats.org/drawingml/2006/main">
              <a:ext uri="{FF2B5EF4-FFF2-40B4-BE49-F238E27FC236}">
                <a16:creationId xmlns:a16="http://schemas.microsoft.com/office/drawing/2014/main" id="{67C4628D-31B0-4411-9122-F632270429FC}"/>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8EED59AE-2E63-4598-9BCD-B57E7542D0F2}"/>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Recruiters return, opportunities are relevant and partners see ongoing value.</a:t>
            </a:r>
          </a:p>
        </p:txBody>
      </p:sp>
    </p:spTree>
    <p:extLst>
      <p:ext uri="{BB962C8B-B14F-4D97-AF65-F5344CB8AC3E}">
        <p14:creationId xmlns:p14="http://schemas.microsoft.com/office/powerpoint/2010/main" val="1430316304"/>
      </p:ext>
    </p:extLst>
  </p:cSld>
</p:sld>
</file>

<file path=ppt/slides/slide19.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469EC0-453F-49CB-B58C-822BB5631452}"/>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“A left-footed senior winger”</a:t>
            </a:r>
          </a:p>
        </p:txBody>
      </p:sp>
      <p:sp>
        <p:nvSpPr>
          <p:cNvPr id="2" name="">
            <a:extLst xmlns:a="http://schemas.openxmlformats.org/drawingml/2006/main">
              <a:ext uri="{FF2B5EF4-FFF2-40B4-BE49-F238E27FC236}">
                <a16:creationId xmlns:a16="http://schemas.microsoft.com/office/drawing/2014/main" id="{A38E77C0-AEB1-486E-807C-49D112564952}"/>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B2030488-7740-4232-BD59-CE66A12305EE}"/>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DCBBCDCE-8DEB-460E-B64F-18BF8F955872}"/>
              </a:ext>
            </a:extLst>
          </p:cNvPr>
          <p:cNvSpPr>
            <a:spLocks xmlns:a="http://schemas.openxmlformats.org/drawingml/2006/main" noGrp="1"/>
          </p:cNvSpPr>
          <p:nvPr/>
        </p:nvSpPr>
        <p:spPr>
          <a:xfrm xmlns:a="http://schemas.openxmlformats.org/drawingml/2006/main">
            <a:off x="609600" y="1695450"/>
            <a:ext cx="109728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“I need a left-footed left winger.</a:t>
            </a:r>
          </a:p>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Senior. Fast. Interested in our level.</a:t>
            </a:r>
          </a:p>
          <a:p xmlns:a="http://schemas.openxmlformats.org/drawingml/2006/main">
            <a:pPr>
              <a:lnSpc>
                <a:spcPct val="110000"/>
              </a:lnSpc>
              <a:buNone/>
              <a:defRPr sz="3150" b="1">
                <a:solidFill>
                  <a:srgbClr val="B4E2CD"/>
                </a:solidFill>
                <a:latin typeface="Helvetica Neue"/>
                <a:ea typeface="Helvetica Neue"/>
                <a:cs typeface="Helvetica Neue"/>
              </a:defRPr>
            </a:pPr>
            <a:r>
              <a:rPr sz="3150" b="1">
                <a:solidFill>
                  <a:srgbClr val="B4E2CD"/>
                </a:solidFill>
                <a:latin typeface="Helvetica Neue"/>
                <a:ea typeface="Helvetica Neue"/>
                <a:cs typeface="Helvetica Neue"/>
              </a:rPr>
              <a:t>Who should I look at?”</a:t>
            </a:r>
          </a:p>
        </p:txBody>
      </p:sp>
      <p:sp>
        <p:nvSpPr>
          <p:cNvPr id="5" name="">
            <a:extLst xmlns:a="http://schemas.openxmlformats.org/drawingml/2006/main">
              <a:ext uri="{FF2B5EF4-FFF2-40B4-BE49-F238E27FC236}">
                <a16:creationId xmlns:a16="http://schemas.microsoft.com/office/drawing/2014/main" id="{1AFC4D41-B51E-4DC9-B558-333D21B3E5C2}"/>
              </a:ext>
            </a:extLst>
          </p:cNvPr>
          <p:cNvSpPr>
            <a:spLocks xmlns:a="http://schemas.openxmlformats.org/drawingml/2006/main" noGrp="1"/>
          </p:cNvSpPr>
          <p:nvPr/>
        </p:nvSpPr>
        <p:spPr>
          <a:xfrm xmlns:a="http://schemas.openxmlformats.org/drawingml/2006/main">
            <a:off x="609600" y="37338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CLARIFY “FAST”</a:t>
            </a:r>
          </a:p>
        </p:txBody>
      </p:sp>
      <p:sp>
        <p:nvSpPr>
          <p:cNvPr id="6" name="">
            <a:extLst xmlns:a="http://schemas.openxmlformats.org/drawingml/2006/main">
              <a:ext uri="{FF2B5EF4-FFF2-40B4-BE49-F238E27FC236}">
                <a16:creationId xmlns:a16="http://schemas.microsoft.com/office/drawing/2014/main" id="{4117EAE9-3113-4632-9637-5955F37F48F8}"/>
              </a:ext>
            </a:extLst>
          </p:cNvPr>
          <p:cNvSpPr>
            <a:spLocks xmlns:a="http://schemas.openxmlformats.org/drawingml/2006/main" noGrp="1"/>
          </p:cNvSpPr>
          <p:nvPr/>
        </p:nvSpPr>
        <p:spPr>
          <a:xfrm xmlns:a="http://schemas.openxmlformats.org/drawingml/2006/main">
            <a:off x="2943225" y="37338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Acceleration, top speed or match-play evidence? Define the criterion.</a:t>
            </a:r>
          </a:p>
        </p:txBody>
      </p:sp>
      <p:sp>
        <p:nvSpPr>
          <p:cNvPr id="7" name="">
            <a:extLst xmlns:a="http://schemas.openxmlformats.org/drawingml/2006/main">
              <a:ext uri="{FF2B5EF4-FFF2-40B4-BE49-F238E27FC236}">
                <a16:creationId xmlns:a16="http://schemas.microsoft.com/office/drawing/2014/main" id="{9C270726-4141-4D2E-AFB2-3BF4FB4AAE62}"/>
              </a:ext>
            </a:extLst>
          </p:cNvPr>
          <p:cNvSpPr>
            <a:spLocks xmlns:a="http://schemas.openxmlformats.org/drawingml/2006/main" noGrp="1"/>
          </p:cNvSpPr>
          <p:nvPr/>
        </p:nvSpPr>
        <p:spPr>
          <a:xfrm xmlns:a="http://schemas.openxmlformats.org/drawingml/2006/main">
            <a:off x="609600" y="45148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CHECK THE RECORD</a:t>
            </a:r>
          </a:p>
        </p:txBody>
      </p:sp>
      <p:sp>
        <p:nvSpPr>
          <p:cNvPr id="8" name="">
            <a:extLst xmlns:a="http://schemas.openxmlformats.org/drawingml/2006/main">
              <a:ext uri="{FF2B5EF4-FFF2-40B4-BE49-F238E27FC236}">
                <a16:creationId xmlns:a16="http://schemas.microsoft.com/office/drawing/2014/main" id="{5DDFBC74-5D9B-4EF4-95E7-0824717EADC0}"/>
              </a:ext>
            </a:extLst>
          </p:cNvPr>
          <p:cNvSpPr>
            <a:spLocks xmlns:a="http://schemas.openxmlformats.org/drawingml/2006/main" noGrp="1"/>
          </p:cNvSpPr>
          <p:nvPr/>
        </p:nvSpPr>
        <p:spPr>
          <a:xfrm xmlns:a="http://schemas.openxmlformats.org/drawingml/2006/main">
            <a:off x="2943225" y="45148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Graduation year, position, preferred foot, interest and recent evidence.</a:t>
            </a:r>
          </a:p>
        </p:txBody>
      </p:sp>
      <p:sp>
        <p:nvSpPr>
          <p:cNvPr id="9" name="">
            <a:extLst xmlns:a="http://schemas.openxmlformats.org/drawingml/2006/main">
              <a:ext uri="{FF2B5EF4-FFF2-40B4-BE49-F238E27FC236}">
                <a16:creationId xmlns:a16="http://schemas.microsoft.com/office/drawing/2014/main" id="{96B9EABB-6FFD-42F6-9984-2CC370F0E757}"/>
              </a:ext>
            </a:extLst>
          </p:cNvPr>
          <p:cNvSpPr>
            <a:spLocks xmlns:a="http://schemas.openxmlformats.org/drawingml/2006/main" noGrp="1"/>
          </p:cNvSpPr>
          <p:nvPr/>
        </p:nvSpPr>
        <p:spPr>
          <a:xfrm xmlns:a="http://schemas.openxmlformats.org/drawingml/2006/main">
            <a:off x="609600" y="5295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RESPECT VISIBILITY</a:t>
            </a:r>
          </a:p>
        </p:txBody>
      </p:sp>
      <p:sp>
        <p:nvSpPr>
          <p:cNvPr id="10" name="">
            <a:extLst xmlns:a="http://schemas.openxmlformats.org/drawingml/2006/main">
              <a:ext uri="{FF2B5EF4-FFF2-40B4-BE49-F238E27FC236}">
                <a16:creationId xmlns:a16="http://schemas.microsoft.com/office/drawing/2014/main" id="{0F121C26-A1CE-42DD-8454-A0FDAE6A3631}"/>
              </a:ext>
            </a:extLst>
          </p:cNvPr>
          <p:cNvSpPr>
            <a:spLocks xmlns:a="http://schemas.openxmlformats.org/drawingml/2006/main" noGrp="1"/>
          </p:cNvSpPr>
          <p:nvPr/>
        </p:nvSpPr>
        <p:spPr>
          <a:xfrm xmlns:a="http://schemas.openxmlformats.org/drawingml/2006/main">
            <a:off x="2943225" y="52959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5F8F5"/>
                </a:solidFill>
                <a:latin typeface="Helvetica Neue"/>
                <a:ea typeface="Helvetica Neue"/>
                <a:cs typeface="Helvetica Neue"/>
              </a:defRPr>
            </a:pPr>
            <a:r>
              <a:rPr sz="2100" b="0">
                <a:solidFill>
                  <a:srgbClr val="F5F8F5"/>
                </a:solidFill>
                <a:latin typeface="Helvetica Neue"/>
                <a:ea typeface="Helvetica Neue"/>
                <a:cs typeface="Helvetica Neue"/>
              </a:rPr>
              <a:t>Search only athletes who authorized this recruiting use.</a:t>
            </a:r>
          </a:p>
        </p:txBody>
      </p:sp>
    </p:spTree>
    <p:extLst>
      <p:ext uri="{BB962C8B-B14F-4D97-AF65-F5344CB8AC3E}">
        <p14:creationId xmlns:p14="http://schemas.microsoft.com/office/powerpoint/2010/main" val="1587323057"/>
      </p:ext>
    </p:extLst>
  </p:cSld>
</p:sld>
</file>

<file path=ppt/slides/slide20.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DE09C-1220-42AC-AE67-6B9BF710AEAE}"/>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A search result with visible limits</a:t>
            </a:r>
          </a:p>
        </p:txBody>
      </p:sp>
      <p:sp>
        <p:nvSpPr>
          <p:cNvPr id="2" name="">
            <a:extLst xmlns:a="http://schemas.openxmlformats.org/drawingml/2006/main">
              <a:ext uri="{FF2B5EF4-FFF2-40B4-BE49-F238E27FC236}">
                <a16:creationId xmlns:a16="http://schemas.microsoft.com/office/drawing/2014/main" id="{D8C53F20-DB46-4019-922E-E4876056144A}"/>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C9D8C4EA-6C2A-459D-8395-E0D849861136}"/>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1FF41F89-F03A-40D7-9D56-6ED2BA8CC6AA}"/>
              </a:ext>
            </a:extLst>
          </p:cNvPr>
          <p:cNvSpPr>
            <a:spLocks xmlns:a="http://schemas.openxmlformats.org/drawingml/2006/main" noGrp="1"/>
          </p:cNvSpPr>
          <p:nvPr/>
        </p:nvSpPr>
        <p:spPr>
          <a:xfrm xmlns:a="http://schemas.openxmlformats.org/drawingml/2006/main">
            <a:off x="609600" y="16383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550" b="1">
                <a:solidFill>
                  <a:srgbClr val="B4E2CD"/>
                </a:solidFill>
                <a:latin typeface="Helvetica Neue"/>
                <a:ea typeface="Helvetica Neue"/>
                <a:cs typeface="Helvetica Neue"/>
              </a:defRPr>
            </a:pPr>
            <a:r>
              <a:rPr sz="2550" b="1">
                <a:solidFill>
                  <a:srgbClr val="B4E2CD"/>
                </a:solidFill>
                <a:latin typeface="Helvetica Neue"/>
                <a:ea typeface="Helvetica Neue"/>
                <a:cs typeface="Helvetica Neue"/>
              </a:rPr>
              <a:t>Illustrative result: three athletes meet the basic criteria.</a:t>
            </a:r>
          </a:p>
        </p:txBody>
      </p:sp>
      <p:sp>
        <p:nvSpPr>
          <p:cNvPr id="5" name="">
            <a:extLst xmlns:a="http://schemas.openxmlformats.org/drawingml/2006/main">
              <a:ext uri="{FF2B5EF4-FFF2-40B4-BE49-F238E27FC236}">
                <a16:creationId xmlns:a16="http://schemas.microsoft.com/office/drawing/2014/main" id="{DCF3BF11-4C37-4143-A42A-DF0117E91EC7}"/>
              </a:ext>
            </a:extLst>
          </p:cNvPr>
          <p:cNvSpPr>
            <a:spLocks xmlns:a="http://schemas.openxmlformats.org/drawingml/2006/main" noGrp="1"/>
          </p:cNvSpPr>
          <p:nvPr/>
        </p:nvSpPr>
        <p:spPr>
          <a:xfrm xmlns:a="http://schemas.openxmlformats.org/drawingml/2006/main">
            <a:off x="609600" y="2705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ATHLETE A</a:t>
            </a:r>
          </a:p>
        </p:txBody>
      </p:sp>
      <p:sp>
        <p:nvSpPr>
          <p:cNvPr id="6" name="">
            <a:extLst xmlns:a="http://schemas.openxmlformats.org/drawingml/2006/main">
              <a:ext uri="{FF2B5EF4-FFF2-40B4-BE49-F238E27FC236}">
                <a16:creationId xmlns:a16="http://schemas.microsoft.com/office/drawing/2014/main" id="{E99C34DB-3F4C-4FDE-9CFB-1C130729FDA4}"/>
              </a:ext>
            </a:extLst>
          </p:cNvPr>
          <p:cNvSpPr>
            <a:spLocks xmlns:a="http://schemas.openxmlformats.org/drawingml/2006/main" noGrp="1"/>
          </p:cNvSpPr>
          <p:nvPr/>
        </p:nvSpPr>
        <p:spPr>
          <a:xfrm xmlns:a="http://schemas.openxmlformats.org/drawingml/2006/main">
            <a:off x="2943225" y="2705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Recent comparable acceleration test. Source and date attached.</a:t>
            </a:r>
          </a:p>
        </p:txBody>
      </p:sp>
      <p:sp>
        <p:nvSpPr>
          <p:cNvPr id="7" name="">
            <a:extLst xmlns:a="http://schemas.openxmlformats.org/drawingml/2006/main">
              <a:ext uri="{FF2B5EF4-FFF2-40B4-BE49-F238E27FC236}">
                <a16:creationId xmlns:a16="http://schemas.microsoft.com/office/drawing/2014/main" id="{CDB5658D-B5E1-47D9-9782-47DAEC1ADAE5}"/>
              </a:ext>
            </a:extLst>
          </p:cNvPr>
          <p:cNvSpPr>
            <a:spLocks xmlns:a="http://schemas.openxmlformats.org/drawingml/2006/main" noGrp="1"/>
          </p:cNvSpPr>
          <p:nvPr/>
        </p:nvSpPr>
        <p:spPr>
          <a:xfrm xmlns:a="http://schemas.openxmlformats.org/drawingml/2006/main">
            <a:off x="609600" y="36576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ATHLETE B</a:t>
            </a:r>
          </a:p>
        </p:txBody>
      </p:sp>
      <p:sp>
        <p:nvSpPr>
          <p:cNvPr id="8" name="">
            <a:extLst xmlns:a="http://schemas.openxmlformats.org/drawingml/2006/main">
              <a:ext uri="{FF2B5EF4-FFF2-40B4-BE49-F238E27FC236}">
                <a16:creationId xmlns:a16="http://schemas.microsoft.com/office/drawing/2014/main" id="{76F0C6A1-741C-4887-9920-9C5CE23588C3}"/>
              </a:ext>
            </a:extLst>
          </p:cNvPr>
          <p:cNvSpPr>
            <a:spLocks xmlns:a="http://schemas.openxmlformats.org/drawingml/2006/main" noGrp="1"/>
          </p:cNvSpPr>
          <p:nvPr/>
        </p:nvSpPr>
        <p:spPr>
          <a:xfrm xmlns:a="http://schemas.openxmlformats.org/drawingml/2006/main">
            <a:off x="2943225" y="36576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Recent comparable test and match footage. Both available for review.</a:t>
            </a:r>
          </a:p>
        </p:txBody>
      </p:sp>
      <p:sp>
        <p:nvSpPr>
          <p:cNvPr id="9" name="">
            <a:extLst xmlns:a="http://schemas.openxmlformats.org/drawingml/2006/main">
              <a:ext uri="{FF2B5EF4-FFF2-40B4-BE49-F238E27FC236}">
                <a16:creationId xmlns:a16="http://schemas.microsoft.com/office/drawing/2014/main" id="{12287B63-6BC0-48E6-868F-4206F68F98F4}"/>
              </a:ext>
            </a:extLst>
          </p:cNvPr>
          <p:cNvSpPr>
            <a:spLocks xmlns:a="http://schemas.openxmlformats.org/drawingml/2006/main" noGrp="1"/>
          </p:cNvSpPr>
          <p:nvPr/>
        </p:nvSpPr>
        <p:spPr>
          <a:xfrm xmlns:a="http://schemas.openxmlformats.org/drawingml/2006/main">
            <a:off x="609600" y="4610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ATHLETE C</a:t>
            </a:r>
          </a:p>
        </p:txBody>
      </p:sp>
      <p:sp>
        <p:nvSpPr>
          <p:cNvPr id="10" name="">
            <a:extLst xmlns:a="http://schemas.openxmlformats.org/drawingml/2006/main">
              <a:ext uri="{FF2B5EF4-FFF2-40B4-BE49-F238E27FC236}">
                <a16:creationId xmlns:a16="http://schemas.microsoft.com/office/drawing/2014/main" id="{24171BA3-0919-4365-A0B4-476475761A11}"/>
              </a:ext>
            </a:extLst>
          </p:cNvPr>
          <p:cNvSpPr>
            <a:spLocks xmlns:a="http://schemas.openxmlformats.org/drawingml/2006/main" noGrp="1"/>
          </p:cNvSpPr>
          <p:nvPr/>
        </p:nvSpPr>
        <p:spPr>
          <a:xfrm xmlns:a="http://schemas.openxmlformats.org/drawingml/2006/main">
            <a:off x="2943225" y="4610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Relevant match footage. Comparable acceleration test is missing.</a:t>
            </a:r>
          </a:p>
        </p:txBody>
      </p:sp>
      <p:sp>
        <p:nvSpPr>
          <p:cNvPr id="11" name="">
            <a:extLst xmlns:a="http://schemas.openxmlformats.org/drawingml/2006/main">
              <a:ext uri="{FF2B5EF4-FFF2-40B4-BE49-F238E27FC236}">
                <a16:creationId xmlns:a16="http://schemas.microsoft.com/office/drawing/2014/main" id="{8283311B-BC20-49A4-BD88-507915442FD4}"/>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Two have measured speed evidence. The third still needs verification.</a:t>
            </a:r>
          </a:p>
        </p:txBody>
      </p:sp>
    </p:spTree>
    <p:extLst>
      <p:ext uri="{BB962C8B-B14F-4D97-AF65-F5344CB8AC3E}">
        <p14:creationId xmlns:p14="http://schemas.microsoft.com/office/powerpoint/2010/main" val="778373451"/>
      </p:ext>
    </p:extLst>
  </p:cSld>
</p:sld>
</file>

<file path=ppt/slides/slide21.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b2815515f9c414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AEFA7E-16F1-48D8-A175-B9AB07C130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0E0B">
              <a:alpha val="92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0456D0-3D92-4B98-BA44-50D5BFF6523E}"/>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relationship can continue after recruiting</a:t>
            </a:r>
          </a:p>
        </p:txBody>
      </p:sp>
      <p:sp>
        <p:nvSpPr>
          <p:cNvPr id="4" name="">
            <a:extLst xmlns:a="http://schemas.openxmlformats.org/drawingml/2006/main">
              <a:ext uri="{FF2B5EF4-FFF2-40B4-BE49-F238E27FC236}">
                <a16:creationId xmlns:a16="http://schemas.microsoft.com/office/drawing/2014/main" id="{44556333-5F5B-40E8-A05B-7CBF006A7FC0}"/>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5" name="">
            <a:extLst xmlns:a="http://schemas.openxmlformats.org/drawingml/2006/main">
              <a:ext uri="{FF2B5EF4-FFF2-40B4-BE49-F238E27FC236}">
                <a16:creationId xmlns:a16="http://schemas.microsoft.com/office/drawing/2014/main" id="{947039B9-7375-4292-ACD9-B58B38F1229B}"/>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21</a:t>
            </a:r>
          </a:p>
        </p:txBody>
      </p:sp>
      <p:sp>
        <p:nvSpPr>
          <p:cNvPr id="6" name="">
            <a:extLst xmlns:a="http://schemas.openxmlformats.org/drawingml/2006/main">
              <a:ext uri="{FF2B5EF4-FFF2-40B4-BE49-F238E27FC236}">
                <a16:creationId xmlns:a16="http://schemas.microsoft.com/office/drawing/2014/main" id="{4A17BA20-8C1E-4FE3-8790-97A045D97375}"/>
              </a:ext>
            </a:extLst>
          </p:cNvPr>
          <p:cNvSpPr>
            <a:spLocks xmlns:a="http://schemas.openxmlformats.org/drawingml/2006/main" noGrp="1"/>
          </p:cNvSpPr>
          <p:nvPr/>
        </p:nvSpPr>
        <p:spPr>
          <a:xfrm xmlns:a="http://schemas.openxmlformats.org/drawingml/2006/main">
            <a:off x="609600" y="22383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BEFORE THE MOVE</a:t>
            </a:r>
          </a:p>
        </p:txBody>
      </p:sp>
      <p:sp>
        <p:nvSpPr>
          <p:cNvPr id="7" name="">
            <a:extLst xmlns:a="http://schemas.openxmlformats.org/drawingml/2006/main">
              <a:ext uri="{FF2B5EF4-FFF2-40B4-BE49-F238E27FC236}">
                <a16:creationId xmlns:a16="http://schemas.microsoft.com/office/drawing/2014/main" id="{B1A4FD94-9C04-4A8A-BAEF-FC1621647D84}"/>
              </a:ext>
            </a:extLst>
          </p:cNvPr>
          <p:cNvSpPr>
            <a:spLocks xmlns:a="http://schemas.openxmlformats.org/drawingml/2006/main" noGrp="1"/>
          </p:cNvSpPr>
          <p:nvPr/>
        </p:nvSpPr>
        <p:spPr>
          <a:xfrm xmlns:a="http://schemas.openxmlformats.org/drawingml/2006/main">
            <a:off x="2943225" y="22383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F5F8F5"/>
                </a:solidFill>
                <a:latin typeface="Helvetica Neue"/>
                <a:ea typeface="Helvetica Neue"/>
                <a:cs typeface="Helvetica Neue"/>
              </a:defRPr>
            </a:pPr>
            <a:r>
              <a:rPr sz="2250" b="0">
                <a:solidFill>
                  <a:srgbClr val="F5F8F5"/>
                </a:solidFill>
                <a:latin typeface="Helvetica Neue"/>
                <a:ea typeface="Helvetica Neue"/>
                <a:cs typeface="Helvetica Neue"/>
              </a:rPr>
              <a:t>The athlete chooses a limited packet for the opportunity.</a:t>
            </a:r>
          </a:p>
        </p:txBody>
      </p:sp>
      <p:sp>
        <p:nvSpPr>
          <p:cNvPr id="8" name="">
            <a:extLst xmlns:a="http://schemas.openxmlformats.org/drawingml/2006/main">
              <a:ext uri="{FF2B5EF4-FFF2-40B4-BE49-F238E27FC236}">
                <a16:creationId xmlns:a16="http://schemas.microsoft.com/office/drawing/2014/main" id="{857D3EE5-BC62-4073-B3CC-B42C65727BD8}"/>
              </a:ext>
            </a:extLst>
          </p:cNvPr>
          <p:cNvSpPr>
            <a:spLocks xmlns:a="http://schemas.openxmlformats.org/drawingml/2006/main" noGrp="1"/>
          </p:cNvSpPr>
          <p:nvPr/>
        </p:nvSpPr>
        <p:spPr>
          <a:xfrm xmlns:a="http://schemas.openxmlformats.org/drawingml/2006/main">
            <a:off x="609600" y="3305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AT THE HANDOFF</a:t>
            </a:r>
          </a:p>
        </p:txBody>
      </p:sp>
      <p:sp>
        <p:nvSpPr>
          <p:cNvPr id="9" name="">
            <a:extLst xmlns:a="http://schemas.openxmlformats.org/drawingml/2006/main">
              <a:ext uri="{FF2B5EF4-FFF2-40B4-BE49-F238E27FC236}">
                <a16:creationId xmlns:a16="http://schemas.microsoft.com/office/drawing/2014/main" id="{9723D72F-946B-4D8A-A387-0C616C751B68}"/>
              </a:ext>
            </a:extLst>
          </p:cNvPr>
          <p:cNvSpPr>
            <a:spLocks xmlns:a="http://schemas.openxmlformats.org/drawingml/2006/main" noGrp="1"/>
          </p:cNvSpPr>
          <p:nvPr/>
        </p:nvSpPr>
        <p:spPr>
          <a:xfrm xmlns:a="http://schemas.openxmlformats.org/drawingml/2006/main">
            <a:off x="2943225" y="33051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F5F8F5"/>
                </a:solidFill>
                <a:latin typeface="Helvetica Neue"/>
                <a:ea typeface="Helvetica Neue"/>
                <a:cs typeface="Helvetica Neue"/>
              </a:defRPr>
            </a:pPr>
            <a:r>
              <a:rPr sz="2250" b="0">
                <a:solidFill>
                  <a:srgbClr val="F5F8F5"/>
                </a:solidFill>
                <a:latin typeface="Helvetica Neue"/>
                <a:ea typeface="Helvetica Neue"/>
                <a:cs typeface="Helvetica Neue"/>
              </a:rPr>
              <a:t>The next program requests the context it needs and confirms permissions.</a:t>
            </a:r>
          </a:p>
        </p:txBody>
      </p:sp>
      <p:sp>
        <p:nvSpPr>
          <p:cNvPr id="10" name="">
            <a:extLst xmlns:a="http://schemas.openxmlformats.org/drawingml/2006/main">
              <a:ext uri="{FF2B5EF4-FFF2-40B4-BE49-F238E27FC236}">
                <a16:creationId xmlns:a16="http://schemas.microsoft.com/office/drawing/2014/main" id="{EF89874C-2AC7-4E6F-8B63-621576E9AD4E}"/>
              </a:ext>
            </a:extLst>
          </p:cNvPr>
          <p:cNvSpPr>
            <a:spLocks xmlns:a="http://schemas.openxmlformats.org/drawingml/2006/main" noGrp="1"/>
          </p:cNvSpPr>
          <p:nvPr/>
        </p:nvSpPr>
        <p:spPr>
          <a:xfrm xmlns:a="http://schemas.openxmlformats.org/drawingml/2006/main">
            <a:off x="609600" y="43719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AFTER ARRIVAL</a:t>
            </a:r>
          </a:p>
        </p:txBody>
      </p:sp>
      <p:sp>
        <p:nvSpPr>
          <p:cNvPr id="11" name="">
            <a:extLst xmlns:a="http://schemas.openxmlformats.org/drawingml/2006/main">
              <a:ext uri="{FF2B5EF4-FFF2-40B4-BE49-F238E27FC236}">
                <a16:creationId xmlns:a16="http://schemas.microsoft.com/office/drawing/2014/main" id="{7C723355-B6D9-4EB1-9B2F-3AED776081BC}"/>
              </a:ext>
            </a:extLst>
          </p:cNvPr>
          <p:cNvSpPr>
            <a:spLocks xmlns:a="http://schemas.openxmlformats.org/drawingml/2006/main" noGrp="1"/>
          </p:cNvSpPr>
          <p:nvPr/>
        </p:nvSpPr>
        <p:spPr>
          <a:xfrm xmlns:a="http://schemas.openxmlformats.org/drawingml/2006/main">
            <a:off x="2943225" y="43719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F5F8F5"/>
                </a:solidFill>
                <a:latin typeface="Helvetica Neue"/>
                <a:ea typeface="Helvetica Neue"/>
                <a:cs typeface="Helvetica Neue"/>
              </a:defRPr>
            </a:pPr>
            <a:r>
              <a:rPr sz="2250" b="0">
                <a:solidFill>
                  <a:srgbClr val="F5F8F5"/>
                </a:solidFill>
                <a:latin typeface="Helvetica Neue"/>
                <a:ea typeface="Helvetica Neue"/>
                <a:cs typeface="Helvetica Neue"/>
              </a:rPr>
              <a:t>A new coach reviews goals, prior work and what still needs attention.</a:t>
            </a:r>
          </a:p>
        </p:txBody>
      </p:sp>
      <p:sp>
        <p:nvSpPr>
          <p:cNvPr id="12" name="">
            <a:extLst xmlns:a="http://schemas.openxmlformats.org/drawingml/2006/main">
              <a:ext uri="{FF2B5EF4-FFF2-40B4-BE49-F238E27FC236}">
                <a16:creationId xmlns:a16="http://schemas.microsoft.com/office/drawing/2014/main" id="{2D187439-CC8D-40E6-8AF2-96AC68E0E8A1}"/>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Recruitment is an event. Development continues.</a:t>
            </a:r>
          </a:p>
        </p:txBody>
      </p:sp>
    </p:spTree>
    <p:extLst>
      <p:ext uri="{BB962C8B-B14F-4D97-AF65-F5344CB8AC3E}">
        <p14:creationId xmlns:p14="http://schemas.microsoft.com/office/powerpoint/2010/main" val="1133638758"/>
      </p:ext>
    </p:extLst>
  </p:cSld>
</p:sld>
</file>

<file path=ppt/slides/slide22.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B4040A-DBA3-4B5F-ACA6-E79035CF7BCF}"/>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06  ATHLETE NETWORK</a:t>
            </a:r>
          </a:p>
        </p:txBody>
      </p:sp>
      <p:sp>
        <p:nvSpPr>
          <p:cNvPr id="2" name="">
            <a:extLst xmlns:a="http://schemas.openxmlformats.org/drawingml/2006/main">
              <a:ext uri="{FF2B5EF4-FFF2-40B4-BE49-F238E27FC236}">
                <a16:creationId xmlns:a16="http://schemas.microsoft.com/office/drawing/2014/main" id="{A336C09E-3868-47DF-B7C6-600BA50A1E35}"/>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1AF2744A-C988-4FF3-B9F7-610405C9123B}"/>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550D34BA-77D9-4648-B94A-28A4471FE369}"/>
              </a:ext>
            </a:extLst>
          </p:cNvPr>
          <p:cNvSpPr>
            <a:spLocks xmlns:a="http://schemas.openxmlformats.org/drawingml/2006/main" noGrp="1"/>
          </p:cNvSpPr>
          <p:nvPr/>
        </p:nvSpPr>
        <p:spPr>
          <a:xfrm xmlns:a="http://schemas.openxmlformats.org/drawingml/2006/main">
            <a:off x="609600" y="15335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775" b="1">
                <a:solidFill>
                  <a:srgbClr val="B4E2CD"/>
                </a:solidFill>
                <a:latin typeface="Helvetica Neue"/>
                <a:ea typeface="Helvetica Neue"/>
                <a:cs typeface="Helvetica Neue"/>
              </a:defRPr>
            </a:pPr>
            <a:r>
              <a:rPr sz="2775" b="1">
                <a:solidFill>
                  <a:srgbClr val="B4E2CD"/>
                </a:solidFill>
                <a:latin typeface="Helvetica Neue"/>
                <a:ea typeface="Helvetica Neue"/>
                <a:cs typeface="Helvetica Neue"/>
              </a:rPr>
              <a:t>Institutions work around continuing athlete records.</a:t>
            </a:r>
          </a:p>
        </p:txBody>
      </p:sp>
      <p:sp>
        <p:nvSpPr>
          <p:cNvPr id="5" name="">
            <a:extLst xmlns:a="http://schemas.openxmlformats.org/drawingml/2006/main">
              <a:ext uri="{FF2B5EF4-FFF2-40B4-BE49-F238E27FC236}">
                <a16:creationId xmlns:a16="http://schemas.microsoft.com/office/drawing/2014/main" id="{8AC756C8-4D49-4787-B3B6-EBB79975B4F0}"/>
              </a:ext>
            </a:extLst>
          </p:cNvPr>
          <p:cNvSpPr>
            <a:spLocks xmlns:a="http://schemas.openxmlformats.org/drawingml/2006/main" noGrp="1"/>
          </p:cNvSpPr>
          <p:nvPr/>
        </p:nvSpPr>
        <p:spPr>
          <a:xfrm xmlns:a="http://schemas.openxmlformats.org/drawingml/2006/main">
            <a:off x="609600" y="26479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BUYER / USERS</a:t>
            </a:r>
          </a:p>
        </p:txBody>
      </p:sp>
      <p:sp>
        <p:nvSpPr>
          <p:cNvPr id="6" name="">
            <a:extLst xmlns:a="http://schemas.openxmlformats.org/drawingml/2006/main">
              <a:ext uri="{FF2B5EF4-FFF2-40B4-BE49-F238E27FC236}">
                <a16:creationId xmlns:a16="http://schemas.microsoft.com/office/drawing/2014/main" id="{CD30FE37-2836-4FD7-A688-5D7D5E09F537}"/>
              </a:ext>
            </a:extLst>
          </p:cNvPr>
          <p:cNvSpPr>
            <a:spLocks xmlns:a="http://schemas.openxmlformats.org/drawingml/2006/main" noGrp="1"/>
          </p:cNvSpPr>
          <p:nvPr/>
        </p:nvSpPr>
        <p:spPr>
          <a:xfrm xmlns:a="http://schemas.openxmlformats.org/drawingml/2006/main">
            <a:off x="2943225" y="26479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Academy groups, college departments, leagues or federations.</a:t>
            </a:r>
          </a:p>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Athletes, coaches and authorized program leaders.</a:t>
            </a:r>
          </a:p>
        </p:txBody>
      </p:sp>
      <p:sp>
        <p:nvSpPr>
          <p:cNvPr id="7" name="">
            <a:extLst xmlns:a="http://schemas.openxmlformats.org/drawingml/2006/main">
              <a:ext uri="{FF2B5EF4-FFF2-40B4-BE49-F238E27FC236}">
                <a16:creationId xmlns:a16="http://schemas.microsoft.com/office/drawing/2014/main" id="{D3763B22-1CB3-47B4-B7AE-2538D47BBF87}"/>
              </a:ext>
            </a:extLst>
          </p:cNvPr>
          <p:cNvSpPr>
            <a:spLocks xmlns:a="http://schemas.openxmlformats.org/drawingml/2006/main" noGrp="1"/>
          </p:cNvSpPr>
          <p:nvPr/>
        </p:nvSpPr>
        <p:spPr>
          <a:xfrm xmlns:a="http://schemas.openxmlformats.org/drawingml/2006/main">
            <a:off x="609600" y="38195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STATE ADDED</a:t>
            </a:r>
          </a:p>
        </p:txBody>
      </p:sp>
      <p:sp>
        <p:nvSpPr>
          <p:cNvPr id="8" name="">
            <a:extLst xmlns:a="http://schemas.openxmlformats.org/drawingml/2006/main">
              <a:ext uri="{FF2B5EF4-FFF2-40B4-BE49-F238E27FC236}">
                <a16:creationId xmlns:a16="http://schemas.microsoft.com/office/drawing/2014/main" id="{8F41D5B9-58FE-4DA1-8976-6528E285791A}"/>
              </a:ext>
            </a:extLst>
          </p:cNvPr>
          <p:cNvSpPr>
            <a:spLocks xmlns:a="http://schemas.openxmlformats.org/drawingml/2006/main" noGrp="1"/>
          </p:cNvSpPr>
          <p:nvPr/>
        </p:nvSpPr>
        <p:spPr>
          <a:xfrm xmlns:a="http://schemas.openxmlformats.org/drawingml/2006/main">
            <a:off x="2943225" y="38195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Permissioned relationships, transitions and comparable intervention/outcome history.</a:t>
            </a:r>
          </a:p>
        </p:txBody>
      </p:sp>
      <p:sp>
        <p:nvSpPr>
          <p:cNvPr id="9" name="">
            <a:extLst xmlns:a="http://schemas.openxmlformats.org/drawingml/2006/main">
              <a:ext uri="{FF2B5EF4-FFF2-40B4-BE49-F238E27FC236}">
                <a16:creationId xmlns:a16="http://schemas.microsoft.com/office/drawing/2014/main" id="{B2E92808-DC14-4298-A51E-11A3E8AB3287}"/>
              </a:ext>
            </a:extLst>
          </p:cNvPr>
          <p:cNvSpPr>
            <a:spLocks xmlns:a="http://schemas.openxmlformats.org/drawingml/2006/main" noGrp="1"/>
          </p:cNvSpPr>
          <p:nvPr/>
        </p:nvSpPr>
        <p:spPr>
          <a:xfrm xmlns:a="http://schemas.openxmlformats.org/drawingml/2006/main">
            <a:off x="609600" y="4991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TO ADVANCE</a:t>
            </a:r>
          </a:p>
        </p:txBody>
      </p:sp>
      <p:sp>
        <p:nvSpPr>
          <p:cNvPr id="10" name="">
            <a:extLst xmlns:a="http://schemas.openxmlformats.org/drawingml/2006/main">
              <a:ext uri="{FF2B5EF4-FFF2-40B4-BE49-F238E27FC236}">
                <a16:creationId xmlns:a16="http://schemas.microsoft.com/office/drawing/2014/main" id="{0C76EAEF-E1F9-458C-B08E-3419322E18CF}"/>
              </a:ext>
            </a:extLst>
          </p:cNvPr>
          <p:cNvSpPr>
            <a:spLocks xmlns:a="http://schemas.openxmlformats.org/drawingml/2006/main" noGrp="1"/>
          </p:cNvSpPr>
          <p:nvPr/>
        </p:nvSpPr>
        <p:spPr>
          <a:xfrm xmlns:a="http://schemas.openxmlformats.org/drawingml/2006/main">
            <a:off x="2943225" y="4991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Institutions renew, handoffs work reliably and learning preserves privacy and uncertainty.</a:t>
            </a:r>
          </a:p>
        </p:txBody>
      </p:sp>
    </p:spTree>
    <p:extLst>
      <p:ext uri="{BB962C8B-B14F-4D97-AF65-F5344CB8AC3E}">
        <p14:creationId xmlns:p14="http://schemas.microsoft.com/office/powerpoint/2010/main" val="1345251451"/>
      </p:ext>
    </p:extLst>
  </p:cSld>
</p:sld>
</file>

<file path=ppt/slides/slide23.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A32896-7846-4BFA-B2F1-261BEA48B243}"/>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What the network could make possible</a:t>
            </a:r>
          </a:p>
        </p:txBody>
      </p:sp>
      <p:sp>
        <p:nvSpPr>
          <p:cNvPr id="2" name="">
            <a:extLst xmlns:a="http://schemas.openxmlformats.org/drawingml/2006/main">
              <a:ext uri="{FF2B5EF4-FFF2-40B4-BE49-F238E27FC236}">
                <a16:creationId xmlns:a16="http://schemas.microsoft.com/office/drawing/2014/main" id="{DBF855F2-CB7F-4775-94B6-C67B0B1E7891}"/>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B00BF5FD-9EB7-46F3-9097-4DFA59A5F74A}"/>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38A3A94E-51E4-4BF1-97D3-BB195AED1343}"/>
              </a:ext>
            </a:extLst>
          </p:cNvPr>
          <p:cNvSpPr>
            <a:spLocks xmlns:a="http://schemas.openxmlformats.org/drawingml/2006/main" noGrp="1"/>
          </p:cNvSpPr>
          <p:nvPr/>
        </p:nvSpPr>
        <p:spPr>
          <a:xfrm xmlns:a="http://schemas.openxmlformats.org/drawingml/2006/main">
            <a:off x="609600" y="19240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COLLEGE PROGRAM</a:t>
            </a:r>
          </a:p>
        </p:txBody>
      </p:sp>
      <p:sp>
        <p:nvSpPr>
          <p:cNvPr id="5" name="">
            <a:extLst xmlns:a="http://schemas.openxmlformats.org/drawingml/2006/main">
              <a:ext uri="{FF2B5EF4-FFF2-40B4-BE49-F238E27FC236}">
                <a16:creationId xmlns:a16="http://schemas.microsoft.com/office/drawing/2014/main" id="{75CAB9A3-2ABB-45A7-8D84-5DE3E3F2F720}"/>
              </a:ext>
            </a:extLst>
          </p:cNvPr>
          <p:cNvSpPr>
            <a:spLocks xmlns:a="http://schemas.openxmlformats.org/drawingml/2006/main" noGrp="1"/>
          </p:cNvSpPr>
          <p:nvPr/>
        </p:nvSpPr>
        <p:spPr>
          <a:xfrm xmlns:a="http://schemas.openxmlformats.org/drawingml/2006/main">
            <a:off x="2943225" y="192405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Understand an incoming athlete with selected development context.</a:t>
            </a:r>
          </a:p>
        </p:txBody>
      </p:sp>
      <p:sp>
        <p:nvSpPr>
          <p:cNvPr id="6" name="">
            <a:extLst xmlns:a="http://schemas.openxmlformats.org/drawingml/2006/main">
              <a:ext uri="{FF2B5EF4-FFF2-40B4-BE49-F238E27FC236}">
                <a16:creationId xmlns:a16="http://schemas.microsoft.com/office/drawing/2014/main" id="{BE83A795-E632-491E-9FB3-0A46583DE36F}"/>
              </a:ext>
            </a:extLst>
          </p:cNvPr>
          <p:cNvSpPr>
            <a:spLocks xmlns:a="http://schemas.openxmlformats.org/drawingml/2006/main" noGrp="1"/>
          </p:cNvSpPr>
          <p:nvPr/>
        </p:nvSpPr>
        <p:spPr>
          <a:xfrm xmlns:a="http://schemas.openxmlformats.org/drawingml/2006/main">
            <a:off x="609600" y="28860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ACADEMY</a:t>
            </a:r>
          </a:p>
        </p:txBody>
      </p:sp>
      <p:sp>
        <p:nvSpPr>
          <p:cNvPr id="7" name="">
            <a:extLst xmlns:a="http://schemas.openxmlformats.org/drawingml/2006/main">
              <a:ext uri="{FF2B5EF4-FFF2-40B4-BE49-F238E27FC236}">
                <a16:creationId xmlns:a16="http://schemas.microsoft.com/office/drawing/2014/main" id="{A5A1EBD9-0FF6-4A60-ADA9-7CD0F08D6DE8}"/>
              </a:ext>
            </a:extLst>
          </p:cNvPr>
          <p:cNvSpPr>
            <a:spLocks xmlns:a="http://schemas.openxmlformats.org/drawingml/2006/main" noGrp="1"/>
          </p:cNvSpPr>
          <p:nvPr/>
        </p:nvSpPr>
        <p:spPr>
          <a:xfrm xmlns:a="http://schemas.openxmlformats.org/drawingml/2006/main">
            <a:off x="2943225" y="28860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See where athletes progress and where a handoff lost continuity.</a:t>
            </a:r>
          </a:p>
        </p:txBody>
      </p:sp>
      <p:sp>
        <p:nvSpPr>
          <p:cNvPr id="8" name="">
            <a:extLst xmlns:a="http://schemas.openxmlformats.org/drawingml/2006/main">
              <a:ext uri="{FF2B5EF4-FFF2-40B4-BE49-F238E27FC236}">
                <a16:creationId xmlns:a16="http://schemas.microsoft.com/office/drawing/2014/main" id="{CAF01419-D0E8-461F-BF91-D17FF14CD18C}"/>
              </a:ext>
            </a:extLst>
          </p:cNvPr>
          <p:cNvSpPr>
            <a:spLocks xmlns:a="http://schemas.openxmlformats.org/drawingml/2006/main" noGrp="1"/>
          </p:cNvSpPr>
          <p:nvPr/>
        </p:nvSpPr>
        <p:spPr>
          <a:xfrm xmlns:a="http://schemas.openxmlformats.org/drawingml/2006/main">
            <a:off x="609600" y="38481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MULTI-SITE ORGANIZATION</a:t>
            </a:r>
          </a:p>
        </p:txBody>
      </p:sp>
      <p:sp>
        <p:nvSpPr>
          <p:cNvPr id="9" name="">
            <a:extLst xmlns:a="http://schemas.openxmlformats.org/drawingml/2006/main">
              <a:ext uri="{FF2B5EF4-FFF2-40B4-BE49-F238E27FC236}">
                <a16:creationId xmlns:a16="http://schemas.microsoft.com/office/drawing/2014/main" id="{A3D50D15-3767-4B42-9A33-F4030C13027D}"/>
              </a:ext>
            </a:extLst>
          </p:cNvPr>
          <p:cNvSpPr>
            <a:spLocks xmlns:a="http://schemas.openxmlformats.org/drawingml/2006/main" noGrp="1"/>
          </p:cNvSpPr>
          <p:nvPr/>
        </p:nvSpPr>
        <p:spPr>
          <a:xfrm xmlns:a="http://schemas.openxmlformats.org/drawingml/2006/main">
            <a:off x="2943225" y="3848100"/>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Find gaps in development support across its authorized programs.</a:t>
            </a:r>
          </a:p>
        </p:txBody>
      </p:sp>
      <p:sp>
        <p:nvSpPr>
          <p:cNvPr id="10" name="">
            <a:extLst xmlns:a="http://schemas.openxmlformats.org/drawingml/2006/main">
              <a:ext uri="{FF2B5EF4-FFF2-40B4-BE49-F238E27FC236}">
                <a16:creationId xmlns:a16="http://schemas.microsoft.com/office/drawing/2014/main" id="{A065D705-DC77-4B51-9042-8FE30224CEE8}"/>
              </a:ext>
            </a:extLst>
          </p:cNvPr>
          <p:cNvSpPr>
            <a:spLocks xmlns:a="http://schemas.openxmlformats.org/drawingml/2006/main" noGrp="1"/>
          </p:cNvSpPr>
          <p:nvPr/>
        </p:nvSpPr>
        <p:spPr>
          <a:xfrm xmlns:a="http://schemas.openxmlformats.org/drawingml/2006/main">
            <a:off x="609600" y="48101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LEARNING OVER TIME</a:t>
            </a:r>
          </a:p>
        </p:txBody>
      </p:sp>
      <p:sp>
        <p:nvSpPr>
          <p:cNvPr id="11" name="">
            <a:extLst xmlns:a="http://schemas.openxmlformats.org/drawingml/2006/main">
              <a:ext uri="{FF2B5EF4-FFF2-40B4-BE49-F238E27FC236}">
                <a16:creationId xmlns:a16="http://schemas.microsoft.com/office/drawing/2014/main" id="{1971DF42-FB3C-4154-B84F-B4D176C669A1}"/>
              </a:ext>
            </a:extLst>
          </p:cNvPr>
          <p:cNvSpPr>
            <a:spLocks xmlns:a="http://schemas.openxmlformats.org/drawingml/2006/main" noGrp="1"/>
          </p:cNvSpPr>
          <p:nvPr/>
        </p:nvSpPr>
        <p:spPr>
          <a:xfrm xmlns:a="http://schemas.openxmlformats.org/drawingml/2006/main">
            <a:off x="2943225" y="48101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Study which approaches are associated with progress in comparable situations.</a:t>
            </a:r>
          </a:p>
        </p:txBody>
      </p:sp>
      <p:sp>
        <p:nvSpPr>
          <p:cNvPr id="12" name="">
            <a:extLst xmlns:a="http://schemas.openxmlformats.org/drawingml/2006/main">
              <a:ext uri="{FF2B5EF4-FFF2-40B4-BE49-F238E27FC236}">
                <a16:creationId xmlns:a16="http://schemas.microsoft.com/office/drawing/2014/main" id="{004257E8-2237-4894-93EE-85E7D8B5F1C3}"/>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An improvement after an intervention does not prove causation.</a:t>
            </a:r>
          </a:p>
        </p:txBody>
      </p:sp>
    </p:spTree>
    <p:extLst>
      <p:ext uri="{BB962C8B-B14F-4D97-AF65-F5344CB8AC3E}">
        <p14:creationId xmlns:p14="http://schemas.microsoft.com/office/powerpoint/2010/main" val="134765367"/>
      </p:ext>
    </p:extLst>
  </p:cSld>
</p:sld>
</file>

<file path=ppt/slides/slide24.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66C98E-88CE-4A0C-B7FA-648D411B7FFB}"/>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A business at every stage</a:t>
            </a:r>
          </a:p>
        </p:txBody>
      </p:sp>
      <p:sp>
        <p:nvSpPr>
          <p:cNvPr id="2" name="">
            <a:extLst xmlns:a="http://schemas.openxmlformats.org/drawingml/2006/main">
              <a:ext uri="{FF2B5EF4-FFF2-40B4-BE49-F238E27FC236}">
                <a16:creationId xmlns:a16="http://schemas.microsoft.com/office/drawing/2014/main" id="{E27ACD66-0ED1-4AC6-9F7D-32A1B92B2ED8}"/>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68B9EFF9-6B67-49F5-9928-82BF3F7B2182}"/>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58D9DFD2-0179-4D83-8C52-DD60B304526E}"/>
              </a:ext>
            </a:extLst>
          </p:cNvPr>
          <p:cNvSpPr>
            <a:spLocks xmlns:a="http://schemas.openxmlformats.org/drawingml/2006/main" noGrp="1"/>
          </p:cNvSpPr>
          <p:nvPr/>
        </p:nvSpPr>
        <p:spPr>
          <a:xfrm xmlns:a="http://schemas.openxmlformats.org/drawingml/2006/main">
            <a:off x="609600" y="20002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ACADEMY</a:t>
            </a:r>
          </a:p>
        </p:txBody>
      </p:sp>
      <p:sp>
        <p:nvSpPr>
          <p:cNvPr id="5" name="">
            <a:extLst xmlns:a="http://schemas.openxmlformats.org/drawingml/2006/main">
              <a:ext uri="{FF2B5EF4-FFF2-40B4-BE49-F238E27FC236}">
                <a16:creationId xmlns:a16="http://schemas.microsoft.com/office/drawing/2014/main" id="{B95BA24F-ED9D-4551-B5E1-0002CE2BF354}"/>
              </a:ext>
            </a:extLst>
          </p:cNvPr>
          <p:cNvSpPr>
            <a:spLocks xmlns:a="http://schemas.openxmlformats.org/drawingml/2006/main" noGrp="1"/>
          </p:cNvSpPr>
          <p:nvPr/>
        </p:nvSpPr>
        <p:spPr>
          <a:xfrm xmlns:a="http://schemas.openxmlformats.org/drawingml/2006/main">
            <a:off x="609600" y="29622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Organizational subscription, with scoped setup and possible active-athlete pricing.</a:t>
            </a:r>
          </a:p>
        </p:txBody>
      </p:sp>
      <p:sp>
        <p:nvSpPr>
          <p:cNvPr id="6" name="">
            <a:extLst xmlns:a="http://schemas.openxmlformats.org/drawingml/2006/main">
              <a:ext uri="{FF2B5EF4-FFF2-40B4-BE49-F238E27FC236}">
                <a16:creationId xmlns:a16="http://schemas.microsoft.com/office/drawing/2014/main" id="{F225734F-9A87-4CF0-B403-9ED7B08CCDD0}"/>
              </a:ext>
            </a:extLst>
          </p:cNvPr>
          <p:cNvSpPr>
            <a:spLocks xmlns:a="http://schemas.openxmlformats.org/drawingml/2006/main" noGrp="1"/>
          </p:cNvSpPr>
          <p:nvPr/>
        </p:nvSpPr>
        <p:spPr>
          <a:xfrm xmlns:a="http://schemas.openxmlformats.org/drawingml/2006/main">
            <a:off x="4267200" y="20002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LARGER PROGRAM</a:t>
            </a:r>
          </a:p>
        </p:txBody>
      </p:sp>
      <p:sp>
        <p:nvSpPr>
          <p:cNvPr id="7" name="">
            <a:extLst xmlns:a="http://schemas.openxmlformats.org/drawingml/2006/main">
              <a:ext uri="{FF2B5EF4-FFF2-40B4-BE49-F238E27FC236}">
                <a16:creationId xmlns:a16="http://schemas.microsoft.com/office/drawing/2014/main" id="{9DA86A00-0366-4C4B-B0DF-80A1C6B60CF7}"/>
              </a:ext>
            </a:extLst>
          </p:cNvPr>
          <p:cNvSpPr>
            <a:spLocks xmlns:a="http://schemas.openxmlformats.org/drawingml/2006/main" noGrp="1"/>
          </p:cNvSpPr>
          <p:nvPr/>
        </p:nvSpPr>
        <p:spPr>
          <a:xfrm xmlns:a="http://schemas.openxmlformats.org/drawingml/2006/main">
            <a:off x="4267200" y="29622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Multi-team or multi-site agreements for staff workflows, support and integrations.</a:t>
            </a:r>
          </a:p>
        </p:txBody>
      </p:sp>
      <p:sp>
        <p:nvSpPr>
          <p:cNvPr id="8" name="">
            <a:extLst xmlns:a="http://schemas.openxmlformats.org/drawingml/2006/main">
              <a:ext uri="{FF2B5EF4-FFF2-40B4-BE49-F238E27FC236}">
                <a16:creationId xmlns:a16="http://schemas.microsoft.com/office/drawing/2014/main" id="{7BF43517-EDE7-4646-9829-2412232FFF3C}"/>
              </a:ext>
            </a:extLst>
          </p:cNvPr>
          <p:cNvSpPr>
            <a:spLocks xmlns:a="http://schemas.openxmlformats.org/drawingml/2006/main" noGrp="1"/>
          </p:cNvSpPr>
          <p:nvPr/>
        </p:nvSpPr>
        <p:spPr>
          <a:xfrm xmlns:a="http://schemas.openxmlformats.org/drawingml/2006/main">
            <a:off x="7924800" y="2000250"/>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1">
                <a:solidFill>
                  <a:srgbClr val="B4E2CD"/>
                </a:solidFill>
                <a:latin typeface="Helvetica Neue"/>
                <a:ea typeface="Helvetica Neue"/>
                <a:cs typeface="Helvetica Neue"/>
              </a:defRPr>
            </a:pPr>
            <a:r>
              <a:rPr sz="2250" b="1">
                <a:solidFill>
                  <a:srgbClr val="B4E2CD"/>
                </a:solidFill>
                <a:latin typeface="Helvetica Neue"/>
                <a:ea typeface="Helvetica Neue"/>
                <a:cs typeface="Helvetica Neue"/>
              </a:rPr>
              <a:t>NETWORK</a:t>
            </a:r>
          </a:p>
        </p:txBody>
      </p:sp>
      <p:sp>
        <p:nvSpPr>
          <p:cNvPr id="9" name="">
            <a:extLst xmlns:a="http://schemas.openxmlformats.org/drawingml/2006/main">
              <a:ext uri="{FF2B5EF4-FFF2-40B4-BE49-F238E27FC236}">
                <a16:creationId xmlns:a16="http://schemas.microsoft.com/office/drawing/2014/main" id="{6609CC6B-0F11-4102-A63A-06969FFC0076}"/>
              </a:ext>
            </a:extLst>
          </p:cNvPr>
          <p:cNvSpPr>
            <a:spLocks xmlns:a="http://schemas.openxmlformats.org/drawingml/2006/main" noGrp="1"/>
          </p:cNvSpPr>
          <p:nvPr/>
        </p:nvSpPr>
        <p:spPr>
          <a:xfrm xmlns:a="http://schemas.openxmlformats.org/drawingml/2006/main">
            <a:off x="7924800" y="2962275"/>
            <a:ext cx="32289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5F8F5"/>
                </a:solidFill>
                <a:latin typeface="Helvetica Neue"/>
                <a:ea typeface="Helvetica Neue"/>
                <a:cs typeface="Helvetica Neue"/>
              </a:defRPr>
            </a:pPr>
            <a:r>
              <a:rPr sz="2325" b="0">
                <a:solidFill>
                  <a:srgbClr val="F5F8F5"/>
                </a:solidFill>
                <a:latin typeface="Helvetica Neue"/>
                <a:ea typeface="Helvetica Neue"/>
                <a:cs typeface="Helvetica Neue"/>
              </a:rPr>
              <a:t>Potential evidence or workflow services, or distribution partnerships.</a:t>
            </a:r>
          </a:p>
        </p:txBody>
      </p:sp>
      <p:sp>
        <p:nvSpPr>
          <p:cNvPr id="10" name="">
            <a:extLst xmlns:a="http://schemas.openxmlformats.org/drawingml/2006/main">
              <a:ext uri="{FF2B5EF4-FFF2-40B4-BE49-F238E27FC236}">
                <a16:creationId xmlns:a16="http://schemas.microsoft.com/office/drawing/2014/main" id="{A2D51951-D8C9-4D17-9DAC-9352B16A93AC}"/>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The academy business must work before a national network exists.</a:t>
            </a:r>
          </a:p>
        </p:txBody>
      </p:sp>
    </p:spTree>
    <p:extLst>
      <p:ext uri="{BB962C8B-B14F-4D97-AF65-F5344CB8AC3E}">
        <p14:creationId xmlns:p14="http://schemas.microsoft.com/office/powerpoint/2010/main" val="1509551619"/>
      </p:ext>
    </p:extLst>
  </p:cSld>
</p:sld>
</file>

<file path=ppt/slides/slide25.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C4F6C6-45DD-45FE-84B4-B420C14991E2}"/>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F5F8F5"/>
                </a:solidFill>
                <a:latin typeface="Helvetica Neue"/>
                <a:ea typeface="Helvetica Neue"/>
                <a:cs typeface="Helvetica Neue"/>
              </a:defRPr>
            </a:pPr>
            <a:r>
              <a:rPr sz="3900" b="1">
                <a:solidFill>
                  <a:srgbClr val="F5F8F5"/>
                </a:solidFill>
                <a:latin typeface="Helvetica Neue"/>
                <a:ea typeface="Helvetica Neue"/>
                <a:cs typeface="Helvetica Neue"/>
              </a:rPr>
              <a:t>The first concrete partner plan</a:t>
            </a:r>
          </a:p>
        </p:txBody>
      </p:sp>
      <p:sp>
        <p:nvSpPr>
          <p:cNvPr id="2" name="">
            <a:extLst xmlns:a="http://schemas.openxmlformats.org/drawingml/2006/main">
              <a:ext uri="{FF2B5EF4-FFF2-40B4-BE49-F238E27FC236}">
                <a16:creationId xmlns:a16="http://schemas.microsoft.com/office/drawing/2014/main" id="{A4020E10-5FD9-45A5-AE69-2D3552AF7D05}"/>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PROPOSED ENTERPRISE VISION</a:t>
            </a:r>
          </a:p>
        </p:txBody>
      </p:sp>
      <p:sp>
        <p:nvSpPr>
          <p:cNvPr id="3" name="">
            <a:extLst xmlns:a="http://schemas.openxmlformats.org/drawingml/2006/main">
              <a:ext uri="{FF2B5EF4-FFF2-40B4-BE49-F238E27FC236}">
                <a16:creationId xmlns:a16="http://schemas.microsoft.com/office/drawing/2014/main" id="{558D6639-4E1D-4902-8CCF-344DD8D63E61}"/>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507F3C14-6D67-4C30-BDC5-9480D6D2F990}"/>
              </a:ext>
            </a:extLst>
          </p:cNvPr>
          <p:cNvSpPr>
            <a:spLocks xmlns:a="http://schemas.openxmlformats.org/drawingml/2006/main" noGrp="1"/>
          </p:cNvSpPr>
          <p:nvPr/>
        </p:nvSpPr>
        <p:spPr>
          <a:xfrm xmlns:a="http://schemas.openxmlformats.org/drawingml/2006/main">
            <a:off x="609600" y="19526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PARTNER + PROBLEM</a:t>
            </a:r>
          </a:p>
        </p:txBody>
      </p:sp>
      <p:sp>
        <p:nvSpPr>
          <p:cNvPr id="5" name="">
            <a:extLst xmlns:a="http://schemas.openxmlformats.org/drawingml/2006/main">
              <a:ext uri="{FF2B5EF4-FFF2-40B4-BE49-F238E27FC236}">
                <a16:creationId xmlns:a16="http://schemas.microsoft.com/office/drawing/2014/main" id="{7E7F816D-C429-4189-85F0-09FAC6B56C7F}"/>
              </a:ext>
            </a:extLst>
          </p:cNvPr>
          <p:cNvSpPr>
            <a:spLocks xmlns:a="http://schemas.openxmlformats.org/drawingml/2006/main" noGrp="1"/>
          </p:cNvSpPr>
          <p:nvPr/>
        </p:nvSpPr>
        <p:spPr>
          <a:xfrm xmlns:a="http://schemas.openxmlformats.org/drawingml/2006/main">
            <a:off x="2943225" y="19526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Confirm the buyer, age group and recurring coaching problem.</a:t>
            </a:r>
          </a:p>
        </p:txBody>
      </p:sp>
      <p:sp>
        <p:nvSpPr>
          <p:cNvPr id="6" name="">
            <a:extLst xmlns:a="http://schemas.openxmlformats.org/drawingml/2006/main">
              <a:ext uri="{FF2B5EF4-FFF2-40B4-BE49-F238E27FC236}">
                <a16:creationId xmlns:a16="http://schemas.microsoft.com/office/drawing/2014/main" id="{66873282-45F4-4418-9861-B8192DFFADC5}"/>
              </a:ext>
            </a:extLst>
          </p:cNvPr>
          <p:cNvSpPr>
            <a:spLocks xmlns:a="http://schemas.openxmlformats.org/drawingml/2006/main" noGrp="1"/>
          </p:cNvSpPr>
          <p:nvPr/>
        </p:nvSpPr>
        <p:spPr>
          <a:xfrm xmlns:a="http://schemas.openxmlformats.org/drawingml/2006/main">
            <a:off x="609600" y="2924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METHOD + PERMISSION</a:t>
            </a:r>
          </a:p>
        </p:txBody>
      </p:sp>
      <p:sp>
        <p:nvSpPr>
          <p:cNvPr id="7" name="">
            <a:extLst xmlns:a="http://schemas.openxmlformats.org/drawingml/2006/main">
              <a:ext uri="{FF2B5EF4-FFF2-40B4-BE49-F238E27FC236}">
                <a16:creationId xmlns:a16="http://schemas.microsoft.com/office/drawing/2014/main" id="{F98B9D6A-9198-40BA-B408-2DDB0AC3D3EE}"/>
              </a:ext>
            </a:extLst>
          </p:cNvPr>
          <p:cNvSpPr>
            <a:spLocks xmlns:a="http://schemas.openxmlformats.org/drawingml/2006/main" noGrp="1"/>
          </p:cNvSpPr>
          <p:nvPr/>
        </p:nvSpPr>
        <p:spPr>
          <a:xfrm xmlns:a="http://schemas.openxmlformats.org/drawingml/2006/main">
            <a:off x="2943225" y="29241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Agree on Lisa’s contribution, usage rights and who can see what.</a:t>
            </a:r>
          </a:p>
        </p:txBody>
      </p:sp>
      <p:sp>
        <p:nvSpPr>
          <p:cNvPr id="8" name="">
            <a:extLst xmlns:a="http://schemas.openxmlformats.org/drawingml/2006/main">
              <a:ext uri="{FF2B5EF4-FFF2-40B4-BE49-F238E27FC236}">
                <a16:creationId xmlns:a16="http://schemas.microsoft.com/office/drawing/2014/main" id="{1B2E5217-C3A6-445F-9342-60A891F44D33}"/>
              </a:ext>
            </a:extLst>
          </p:cNvPr>
          <p:cNvSpPr>
            <a:spLocks xmlns:a="http://schemas.openxmlformats.org/drawingml/2006/main" noGrp="1"/>
          </p:cNvSpPr>
          <p:nvPr/>
        </p:nvSpPr>
        <p:spPr>
          <a:xfrm xmlns:a="http://schemas.openxmlformats.org/drawingml/2006/main">
            <a:off x="609600" y="389572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PROOF + ECONOMICS</a:t>
            </a:r>
          </a:p>
        </p:txBody>
      </p:sp>
      <p:sp>
        <p:nvSpPr>
          <p:cNvPr id="9" name="">
            <a:extLst xmlns:a="http://schemas.openxmlformats.org/drawingml/2006/main">
              <a:ext uri="{FF2B5EF4-FFF2-40B4-BE49-F238E27FC236}">
                <a16:creationId xmlns:a16="http://schemas.microsoft.com/office/drawing/2014/main" id="{8A62FC3D-7A2B-40EE-9FD4-00C5C1970443}"/>
              </a:ext>
            </a:extLst>
          </p:cNvPr>
          <p:cNvSpPr>
            <a:spLocks xmlns:a="http://schemas.openxmlformats.org/drawingml/2006/main" noGrp="1"/>
          </p:cNvSpPr>
          <p:nvPr/>
        </p:nvSpPr>
        <p:spPr>
          <a:xfrm xmlns:a="http://schemas.openxmlformats.org/drawingml/2006/main">
            <a:off x="2943225" y="389572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Choose a development cycle, usefulness measures and continuation terms.</a:t>
            </a:r>
          </a:p>
        </p:txBody>
      </p:sp>
      <p:sp>
        <p:nvSpPr>
          <p:cNvPr id="10" name="">
            <a:extLst xmlns:a="http://schemas.openxmlformats.org/drawingml/2006/main">
              <a:ext uri="{FF2B5EF4-FFF2-40B4-BE49-F238E27FC236}">
                <a16:creationId xmlns:a16="http://schemas.microsoft.com/office/drawing/2014/main" id="{6BF963E5-E48D-4790-9620-29B52F18BBED}"/>
              </a:ext>
            </a:extLst>
          </p:cNvPr>
          <p:cNvSpPr>
            <a:spLocks xmlns:a="http://schemas.openxmlformats.org/drawingml/2006/main" noGrp="1"/>
          </p:cNvSpPr>
          <p:nvPr/>
        </p:nvSpPr>
        <p:spPr>
          <a:xfrm xmlns:a="http://schemas.openxmlformats.org/drawingml/2006/main">
            <a:off x="609600" y="48672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B4E2CD"/>
                </a:solidFill>
                <a:latin typeface="Helvetica Neue"/>
                <a:ea typeface="Helvetica Neue"/>
                <a:cs typeface="Helvetica Neue"/>
              </a:defRPr>
            </a:pPr>
            <a:r>
              <a:rPr sz="1875" b="1">
                <a:solidFill>
                  <a:srgbClr val="B4E2CD"/>
                </a:solidFill>
                <a:latin typeface="Helvetica Neue"/>
                <a:ea typeface="Helvetica Neue"/>
                <a:cs typeface="Helvetica Neue"/>
              </a:rPr>
              <a:t>REPEATABILITY</a:t>
            </a:r>
          </a:p>
        </p:txBody>
      </p:sp>
      <p:sp>
        <p:nvSpPr>
          <p:cNvPr id="11" name="">
            <a:extLst xmlns:a="http://schemas.openxmlformats.org/drawingml/2006/main">
              <a:ext uri="{FF2B5EF4-FFF2-40B4-BE49-F238E27FC236}">
                <a16:creationId xmlns:a16="http://schemas.microsoft.com/office/drawing/2014/main" id="{988EE50B-4885-42FC-BC4E-937B94992CA6}"/>
              </a:ext>
            </a:extLst>
          </p:cNvPr>
          <p:cNvSpPr>
            <a:spLocks xmlns:a="http://schemas.openxmlformats.org/drawingml/2006/main" noGrp="1"/>
          </p:cNvSpPr>
          <p:nvPr/>
        </p:nvSpPr>
        <p:spPr>
          <a:xfrm xmlns:a="http://schemas.openxmlformats.org/drawingml/2006/main">
            <a:off x="2943225" y="4867275"/>
            <a:ext cx="8639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5F8F5"/>
                </a:solidFill>
                <a:latin typeface="Helvetica Neue"/>
                <a:ea typeface="Helvetica Neue"/>
                <a:cs typeface="Helvetica Neue"/>
              </a:defRPr>
            </a:pPr>
            <a:r>
              <a:rPr sz="2175" b="0">
                <a:solidFill>
                  <a:srgbClr val="F5F8F5"/>
                </a:solidFill>
                <a:latin typeface="Helvetica Neue"/>
                <a:ea typeface="Helvetica Neue"/>
                <a:cs typeface="Helvetica Neue"/>
              </a:rPr>
              <a:t>Use what we learn to approach the next similar academy.</a:t>
            </a:r>
          </a:p>
        </p:txBody>
      </p:sp>
      <p:sp>
        <p:nvSpPr>
          <p:cNvPr id="12" name="">
            <a:extLst xmlns:a="http://schemas.openxmlformats.org/drawingml/2006/main">
              <a:ext uri="{FF2B5EF4-FFF2-40B4-BE49-F238E27FC236}">
                <a16:creationId xmlns:a16="http://schemas.microsoft.com/office/drawing/2014/main" id="{46533630-C64B-4F8D-B528-7A0AC33C537D}"/>
              </a:ext>
            </a:extLst>
          </p:cNvPr>
          <p:cNvSpPr>
            <a:spLocks xmlns:a="http://schemas.openxmlformats.org/drawingml/2006/main" noGrp="1"/>
          </p:cNvSpPr>
          <p:nvPr/>
        </p:nvSpPr>
        <p:spPr>
          <a:xfrm xmlns:a="http://schemas.openxmlformats.org/drawingml/2006/main">
            <a:off x="609600" y="5667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B4E2CD"/>
                </a:solidFill>
                <a:latin typeface="Helvetica Neue"/>
                <a:ea typeface="Helvetica Neue"/>
                <a:cs typeface="Helvetica Neue"/>
              </a:defRPr>
            </a:pPr>
            <a:r>
              <a:rPr sz="2400" b="1">
                <a:solidFill>
                  <a:srgbClr val="B4E2CD"/>
                </a:solidFill>
                <a:latin typeface="Helvetica Neue"/>
                <a:ea typeface="Helvetica Neue"/>
                <a:cs typeface="Helvetica Neue"/>
              </a:rPr>
              <a:t>Beyond Sports could be where the journey begins.</a:t>
            </a:r>
          </a:p>
        </p:txBody>
      </p:sp>
    </p:spTree>
    <p:extLst>
      <p:ext uri="{BB962C8B-B14F-4D97-AF65-F5344CB8AC3E}">
        <p14:creationId xmlns:p14="http://schemas.microsoft.com/office/powerpoint/2010/main" val="1328957756"/>
      </p:ext>
    </p:extLst>
  </p:cSld>
</p:sld>
</file>

<file path=ppt/slides/slide26.xml><?xml version="1.0" encoding="utf-8"?>
<p:sld xmlns:p="http://schemas.openxmlformats.org/presentationml/2006/main">
  <p:cSld>
    <p:bg>
      <p:bgPr>
        <a:solidFill xmlns:a="http://schemas.openxmlformats.org/drawingml/2006/main">
          <a:srgbClr val="080D0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6618bcdb0841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15878E-1FD6-4CE0-B183-140F8A22F4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50B09">
                  <a:alpha val="94000"/>
                </a:srgbClr>
              </a:gs>
              <a:gs pos="53000">
                <a:srgbClr val="050B09">
                  <a:alpha val="76000"/>
                </a:srgbClr>
              </a:gs>
              <a:gs pos="100000">
                <a:srgbClr val="050B09">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9F25CC-8797-40A3-BDB0-81EBFA92CB96}"/>
              </a:ext>
            </a:extLst>
          </p:cNvPr>
          <p:cNvSpPr>
            <a:spLocks xmlns:a="http://schemas.openxmlformats.org/drawingml/2006/main" noGrp="1"/>
          </p:cNvSpPr>
          <p:nvPr/>
        </p:nvSpPr>
        <p:spPr>
          <a:xfrm xmlns:a="http://schemas.openxmlformats.org/drawingml/2006/main">
            <a:off x="609600" y="6467475"/>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C2CDC6"/>
                </a:solidFill>
                <a:latin typeface="Helvetica Neue"/>
                <a:ea typeface="Helvetica Neue"/>
                <a:cs typeface="Helvetica Neue"/>
              </a:defRPr>
            </a:pPr>
            <a:r>
              <a:rPr sz="1200" b="0">
                <a:solidFill>
                  <a:srgbClr val="C2CDC6"/>
                </a:solidFill>
                <a:latin typeface="Helvetica Neue"/>
                <a:ea typeface="Helvetica Neue"/>
                <a:cs typeface="Helvetica Neue"/>
              </a:rPr>
              <a:t>MORE ATHLETE   /   PROPOSED ENTERPRISE DESTINATION</a:t>
            </a:r>
          </a:p>
        </p:txBody>
      </p:sp>
      <p:sp>
        <p:nvSpPr>
          <p:cNvPr id="4" name="">
            <a:extLst xmlns:a="http://schemas.openxmlformats.org/drawingml/2006/main">
              <a:ext uri="{FF2B5EF4-FFF2-40B4-BE49-F238E27FC236}">
                <a16:creationId xmlns:a16="http://schemas.microsoft.com/office/drawing/2014/main" id="{BD3E5A1C-9D98-4E60-B716-43892E3BC547}"/>
              </a:ext>
            </a:extLst>
          </p:cNvPr>
          <p:cNvSpPr>
            <a:spLocks xmlns:a="http://schemas.openxmlformats.org/drawingml/2006/main" noGrp="1"/>
          </p:cNvSpPr>
          <p:nvPr/>
        </p:nvSpPr>
        <p:spPr>
          <a:xfrm xmlns:a="http://schemas.openxmlformats.org/drawingml/2006/main">
            <a:off x="11153775"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C2CDC6"/>
                </a:solidFill>
                <a:latin typeface="Helvetica Neue"/>
                <a:ea typeface="Helvetica Neue"/>
                <a:cs typeface="Helvetica Neue"/>
              </a:defRPr>
            </a:pPr>
            <a:r>
              <a:rPr sz="1350" b="0">
                <a:solidFill>
                  <a:srgbClr val="C2CDC6"/>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7B6EF3CA-565B-4A33-96D1-C24309337C07}"/>
              </a:ext>
            </a:extLst>
          </p:cNvPr>
          <p:cNvSpPr>
            <a:spLocks xmlns:a="http://schemas.openxmlformats.org/drawingml/2006/main" noGrp="1"/>
          </p:cNvSpPr>
          <p:nvPr/>
        </p:nvSpPr>
        <p:spPr>
          <a:xfrm xmlns:a="http://schemas.openxmlformats.org/drawingml/2006/main">
            <a:off x="609600" y="809625"/>
            <a:ext cx="8143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650" b="1">
                <a:solidFill>
                  <a:srgbClr val="F5F8F5"/>
                </a:solidFill>
                <a:latin typeface="Helvetica Neue"/>
                <a:ea typeface="Helvetica Neue"/>
                <a:cs typeface="Helvetica Neue"/>
              </a:defRPr>
            </a:pPr>
            <a:r>
              <a:rPr sz="4650" b="1">
                <a:solidFill>
                  <a:srgbClr val="F5F8F5"/>
                </a:solidFill>
                <a:latin typeface="Helvetica Neue"/>
                <a:ea typeface="Helvetica Neue"/>
                <a:cs typeface="Helvetica Neue"/>
              </a:rPr>
              <a:t>A continuing record.</a:t>
            </a:r>
          </a:p>
          <a:p xmlns:a="http://schemas.openxmlformats.org/drawingml/2006/main">
            <a:pPr>
              <a:lnSpc>
                <a:spcPct val="110000"/>
              </a:lnSpc>
              <a:buNone/>
              <a:defRPr sz="4650" b="1">
                <a:solidFill>
                  <a:srgbClr val="F5F8F5"/>
                </a:solidFill>
                <a:latin typeface="Helvetica Neue"/>
                <a:ea typeface="Helvetica Neue"/>
                <a:cs typeface="Helvetica Neue"/>
              </a:defRPr>
            </a:pPr>
            <a:r>
              <a:rPr sz="4650" b="1">
                <a:solidFill>
                  <a:srgbClr val="F5F8F5"/>
                </a:solidFill>
                <a:latin typeface="Helvetica Neue"/>
                <a:ea typeface="Helvetica Neue"/>
                <a:cs typeface="Helvetica Neue"/>
              </a:rPr>
              <a:t>A wider circle</a:t>
            </a:r>
          </a:p>
          <a:p xmlns:a="http://schemas.openxmlformats.org/drawingml/2006/main">
            <a:pPr>
              <a:lnSpc>
                <a:spcPct val="110000"/>
              </a:lnSpc>
              <a:buNone/>
              <a:defRPr sz="4650" b="1">
                <a:solidFill>
                  <a:srgbClr val="F5F8F5"/>
                </a:solidFill>
                <a:latin typeface="Helvetica Neue"/>
                <a:ea typeface="Helvetica Neue"/>
                <a:cs typeface="Helvetica Neue"/>
              </a:defRPr>
            </a:pPr>
            <a:r>
              <a:rPr sz="4650" b="1">
                <a:solidFill>
                  <a:srgbClr val="F5F8F5"/>
                </a:solidFill>
                <a:latin typeface="Helvetica Neue"/>
                <a:ea typeface="Helvetica Neue"/>
                <a:cs typeface="Helvetica Neue"/>
              </a:rPr>
              <a:t>of useful support.</a:t>
            </a:r>
          </a:p>
        </p:txBody>
      </p:sp>
      <p:sp>
        <p:nvSpPr>
          <p:cNvPr id="6" name="">
            <a:extLst xmlns:a="http://schemas.openxmlformats.org/drawingml/2006/main">
              <a:ext uri="{FF2B5EF4-FFF2-40B4-BE49-F238E27FC236}">
                <a16:creationId xmlns:a16="http://schemas.microsoft.com/office/drawing/2014/main" id="{14A967AB-C4E1-44B3-96C5-79268D1B0226}"/>
              </a:ext>
            </a:extLst>
          </p:cNvPr>
          <p:cNvSpPr>
            <a:spLocks xmlns:a="http://schemas.openxmlformats.org/drawingml/2006/main" noGrp="1"/>
          </p:cNvSpPr>
          <p:nvPr/>
        </p:nvSpPr>
        <p:spPr>
          <a:xfrm xmlns:a="http://schemas.openxmlformats.org/drawingml/2006/main">
            <a:off x="609600" y="3714750"/>
            <a:ext cx="857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550" b="1">
                <a:solidFill>
                  <a:srgbClr val="B4E2CD"/>
                </a:solidFill>
                <a:latin typeface="Helvetica Neue"/>
                <a:ea typeface="Helvetica Neue"/>
                <a:cs typeface="Helvetica Neue"/>
              </a:defRPr>
            </a:pPr>
            <a:r>
              <a:rPr sz="2550" b="1">
                <a:solidFill>
                  <a:srgbClr val="B4E2CD"/>
                </a:solidFill>
                <a:latin typeface="Helvetica Neue"/>
                <a:ea typeface="Helvetica Neue"/>
                <a:cs typeface="Helvetica Neue"/>
              </a:rPr>
              <a:t>Athletes, coaches, academies, clubs,</a:t>
            </a:r>
          </a:p>
          <a:p xmlns:a="http://schemas.openxmlformats.org/drawingml/2006/main">
            <a:pPr>
              <a:lnSpc>
                <a:spcPct val="110000"/>
              </a:lnSpc>
              <a:buNone/>
              <a:defRPr sz="2550" b="1">
                <a:solidFill>
                  <a:srgbClr val="B4E2CD"/>
                </a:solidFill>
                <a:latin typeface="Helvetica Neue"/>
                <a:ea typeface="Helvetica Neue"/>
                <a:cs typeface="Helvetica Neue"/>
              </a:defRPr>
            </a:pPr>
            <a:r>
              <a:rPr sz="2550" b="1">
                <a:solidFill>
                  <a:srgbClr val="B4E2CD"/>
                </a:solidFill>
                <a:latin typeface="Helvetica Neue"/>
                <a:ea typeface="Helvetica Neue"/>
                <a:cs typeface="Helvetica Neue"/>
              </a:rPr>
              <a:t>colleges and development programs.</a:t>
            </a:r>
          </a:p>
          <a:p xmlns:a="http://schemas.openxmlformats.org/drawingml/2006/main">
            <a:pPr>
              <a:lnSpc>
                <a:spcPct val="110000"/>
              </a:lnSpc>
              <a:buNone/>
              <a:defRPr sz="2550" b="1">
                <a:solidFill>
                  <a:srgbClr val="B4E2CD"/>
                </a:solidFill>
                <a:latin typeface="Helvetica Neue"/>
                <a:ea typeface="Helvetica Neue"/>
                <a:cs typeface="Helvetica Neue"/>
              </a:defRPr>
            </a:pPr>
            <a:r>
              <a:rPr sz="2550" b="1">
                <a:solidFill>
                  <a:srgbClr val="B4E2CD"/>
                </a:solidFill>
                <a:latin typeface="Helvetica Neue"/>
                <a:ea typeface="Helvetica Neue"/>
                <a:cs typeface="Helvetica Neue"/>
              </a:rPr>
              <a:t>Connected through legitimate permissions.</a:t>
            </a:r>
          </a:p>
        </p:txBody>
      </p:sp>
      <p:sp>
        <p:nvSpPr>
          <p:cNvPr id="7" name="">
            <a:extLst xmlns:a="http://schemas.openxmlformats.org/drawingml/2006/main">
              <a:ext uri="{FF2B5EF4-FFF2-40B4-BE49-F238E27FC236}">
                <a16:creationId xmlns:a16="http://schemas.microsoft.com/office/drawing/2014/main" id="{371C34B7-4D12-4AEE-8190-640A5F382B61}"/>
              </a:ext>
            </a:extLst>
          </p:cNvPr>
          <p:cNvSpPr>
            <a:spLocks xmlns:a="http://schemas.openxmlformats.org/drawingml/2006/main" noGrp="1"/>
          </p:cNvSpPr>
          <p:nvPr/>
        </p:nvSpPr>
        <p:spPr>
          <a:xfrm xmlns:a="http://schemas.openxmlformats.org/drawingml/2006/main">
            <a:off x="609600" y="5534025"/>
            <a:ext cx="909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75" b="1">
                <a:solidFill>
                  <a:srgbClr val="F5F8F5"/>
                </a:solidFill>
                <a:latin typeface="Helvetica Neue"/>
                <a:ea typeface="Helvetica Neue"/>
                <a:cs typeface="Helvetica Neue"/>
              </a:defRPr>
            </a:pPr>
            <a:r>
              <a:rPr sz="2475" b="1">
                <a:solidFill>
                  <a:srgbClr val="F5F8F5"/>
                </a:solidFill>
                <a:latin typeface="Helvetica Neue"/>
                <a:ea typeface="Helvetica Neue"/>
                <a:cs typeface="Helvetica Neue"/>
              </a:rPr>
              <a:t>The first proof is better development</a:t>
            </a:r>
          </a:p>
          <a:p xmlns:a="http://schemas.openxmlformats.org/drawingml/2006/main">
            <a:pPr>
              <a:lnSpc>
                <a:spcPct val="110000"/>
              </a:lnSpc>
              <a:buNone/>
              <a:defRPr sz="2475" b="1">
                <a:solidFill>
                  <a:srgbClr val="F5F8F5"/>
                </a:solidFill>
                <a:latin typeface="Helvetica Neue"/>
                <a:ea typeface="Helvetica Neue"/>
                <a:cs typeface="Helvetica Neue"/>
              </a:defRPr>
            </a:pPr>
            <a:r>
              <a:rPr sz="2475" b="1">
                <a:solidFill>
                  <a:srgbClr val="F5F8F5"/>
                </a:solidFill>
                <a:latin typeface="Helvetica Neue"/>
                <a:ea typeface="Helvetica Neue"/>
                <a:cs typeface="Helvetica Neue"/>
              </a:rPr>
              <a:t>inside one academy.</a:t>
            </a:r>
          </a:p>
        </p:txBody>
      </p:sp>
    </p:spTree>
    <p:extLst>
      <p:ext uri="{BB962C8B-B14F-4D97-AF65-F5344CB8AC3E}">
        <p14:creationId xmlns:p14="http://schemas.microsoft.com/office/powerpoint/2010/main" val="968807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2026-09-16T14:36:12.8230000Z</dcterms:created>
  <dcterms:modified xsi:type="dcterms:W3CDTF">2026-09-16T14:36:12.8230000Z</dcterms:modified>
</coreProperties>
</file>